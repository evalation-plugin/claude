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8892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31720"/>
            <a:ext cx="1371600" cy="82296"/>
          </a:xfrm>
          <a:prstGeom prst="rect">
            <a:avLst/>
          </a:prstGeom>
          <a:solidFill>
            <a:srgbClr val="0F5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0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Hanken Grotesk"/>
              </a:rPr>
              <a:t>{{ PRODUCT / REPOSITORY 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87782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EAF0FB"/>
                </a:solidFill>
                <a:latin typeface="Hanken Grotesk"/>
              </a:rPr>
              <a:t>{{ Audit title }}</a:t>
            </a:r>
          </a:p>
        </p:txBody>
      </p:sp>
      <p:pic>
        <p:nvPicPr>
          <p:cNvPr id="7" name="Picture 6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6811" y="603504"/>
            <a:ext cx="1899221" cy="16276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02920" y="2514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93A4C6"/>
                </a:solidFill>
                <a:latin typeface="Hanken Grotesk"/>
              </a:rPr>
              <a:t>{{ Read-only multi-agent review · N lenses · models used · trunk &lt;sha&gt; 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429000"/>
            <a:ext cx="2651760" cy="123444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41148" cy="123444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675887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343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FINDINGS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00984" y="3429000"/>
            <a:ext cx="2651760" cy="123444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00984" y="3429000"/>
            <a:ext cx="41148" cy="123444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3675887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B3B4E"/>
                </a:solidFill>
                <a:latin typeface="Hanken Grotesk"/>
              </a:rPr>
              <a:t>{{N}}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4343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CRITICAL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9048" y="3429000"/>
            <a:ext cx="2651760" cy="123444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99048" y="3429000"/>
            <a:ext cx="41148" cy="123444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3675887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37376" y="4343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HIGH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97112" y="3429000"/>
            <a:ext cx="2651760" cy="123444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97112" y="3429000"/>
            <a:ext cx="41148" cy="123444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17152" y="3675887"/>
            <a:ext cx="2194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4343400"/>
            <a:ext cx="2194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HARDNESS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0749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AF0FB"/>
                </a:solidFill>
                <a:latin typeface="Hanken Grotesk"/>
              </a:rPr>
              <a:t>Overall verdict:  </a:t>
            </a:r>
            <a:r>
              <a:rPr sz="1300" b="1" i="0">
                <a:solidFill>
                  <a:srgbClr val="EAF0FB"/>
                </a:solidFill>
                <a:latin typeface="Hanken Grotesk"/>
              </a:rPr>
              <a:t>{{ one honest, top-line sentence: what the system is and the headline judgment 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989320"/>
            <a:ext cx="11183112" cy="45720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5989320"/>
            <a:ext cx="32004" cy="45720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598932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TEMPLATE  </a:t>
            </a:r>
            <a:r>
              <a:rPr sz="900" b="0" i="0">
                <a:solidFill>
                  <a:srgbClr val="6F82AB"/>
                </a:solidFill>
                <a:latin typeface="Hanken Grotesk"/>
              </a:rPr>
              <a:t>Title slide: audit identity, top-line counts, one-sentence verdict. Big logo right of the title; header logo on every other slide.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Repository at a glance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TEMPLATE · GitHub-style language split + an engineering-object inventory measured from the tree. Fill counts; show 0 for object types not present.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93392"/>
            <a:ext cx="11183112" cy="292608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93392"/>
            <a:ext cx="4696907" cy="292608"/>
          </a:xfrm>
          <a:prstGeom prst="rect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199827" y="1993392"/>
            <a:ext cx="2236622" cy="292608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436449" y="1993392"/>
            <a:ext cx="1565635" cy="2926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02085" y="1993392"/>
            <a:ext cx="1118311" cy="292608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120396" y="1993392"/>
            <a:ext cx="894648" cy="292608"/>
          </a:xfrm>
          <a:prstGeom prst="rect">
            <a:avLst/>
          </a:prstGeom>
          <a:solidFill>
            <a:srgbClr val="6B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015045" y="1993392"/>
            <a:ext cx="670986" cy="292608"/>
          </a:xfrm>
          <a:prstGeom prst="rect">
            <a:avLst/>
          </a:prstGeom>
          <a:solidFill>
            <a:srgbClr val="93A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432304"/>
            <a:ext cx="100584" cy="100584"/>
          </a:xfrm>
          <a:prstGeom prst="ellipse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386584"/>
            <a:ext cx="1463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{{Lang}} {{%}}</a:t>
            </a:r>
          </a:p>
        </p:txBody>
      </p:sp>
      <p:sp>
        <p:nvSpPr>
          <p:cNvPr id="17" name="Oval 16"/>
          <p:cNvSpPr/>
          <p:nvPr/>
        </p:nvSpPr>
        <p:spPr>
          <a:xfrm>
            <a:off x="2103120" y="2432304"/>
            <a:ext cx="100584" cy="100584"/>
          </a:xfrm>
          <a:prstGeom prst="ellipse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67712" y="2386584"/>
            <a:ext cx="1463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{{Lang}} {{%}}</a:t>
            </a:r>
          </a:p>
        </p:txBody>
      </p:sp>
      <p:sp>
        <p:nvSpPr>
          <p:cNvPr id="19" name="Oval 18"/>
          <p:cNvSpPr/>
          <p:nvPr/>
        </p:nvSpPr>
        <p:spPr>
          <a:xfrm>
            <a:off x="3703320" y="2432304"/>
            <a:ext cx="100584" cy="10058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67911" y="2386584"/>
            <a:ext cx="1463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{{Lang}} {{%}}</a:t>
            </a:r>
          </a:p>
        </p:txBody>
      </p:sp>
      <p:sp>
        <p:nvSpPr>
          <p:cNvPr id="21" name="Oval 20"/>
          <p:cNvSpPr/>
          <p:nvPr/>
        </p:nvSpPr>
        <p:spPr>
          <a:xfrm>
            <a:off x="5303520" y="2432304"/>
            <a:ext cx="100584" cy="100584"/>
          </a:xfrm>
          <a:prstGeom prst="ellipse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68112" y="2386584"/>
            <a:ext cx="1463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{{Lang}} {{%}}</a:t>
            </a:r>
          </a:p>
        </p:txBody>
      </p:sp>
      <p:sp>
        <p:nvSpPr>
          <p:cNvPr id="23" name="Oval 22"/>
          <p:cNvSpPr/>
          <p:nvPr/>
        </p:nvSpPr>
        <p:spPr>
          <a:xfrm>
            <a:off x="6903720" y="2432304"/>
            <a:ext cx="100584" cy="100584"/>
          </a:xfrm>
          <a:prstGeom prst="ellipse">
            <a:avLst/>
          </a:prstGeom>
          <a:solidFill>
            <a:srgbClr val="6B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68312" y="2386584"/>
            <a:ext cx="1463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{{Lang}} {{%}}</a:t>
            </a:r>
          </a:p>
        </p:txBody>
      </p:sp>
      <p:sp>
        <p:nvSpPr>
          <p:cNvPr id="25" name="Oval 24"/>
          <p:cNvSpPr/>
          <p:nvPr/>
        </p:nvSpPr>
        <p:spPr>
          <a:xfrm>
            <a:off x="8503920" y="2432304"/>
            <a:ext cx="100584" cy="100584"/>
          </a:xfrm>
          <a:prstGeom prst="ellipse">
            <a:avLst/>
          </a:prstGeom>
          <a:solidFill>
            <a:srgbClr val="93A4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8512" y="2386584"/>
            <a:ext cx="1463040" cy="2377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{{Lang}} {{%}}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FILES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098548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35708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4852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LINES OF CODE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94176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31336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COMMITS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289804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26964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6108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LANGUAGES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85432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22592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31736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DEPENDENCIES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81060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18220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27364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CI JOBS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76688" y="292608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213848" y="302666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22992" y="342900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DOCS PAGES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SERVICES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098548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235708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244852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ADAPTERS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94176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831336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840480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HOOKS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289804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426964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36108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GUARDS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885432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22592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31736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GATES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481060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18220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27364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LOOP SCRIPTS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076688" y="370332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213848" y="380390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2992" y="420624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SKILLS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40080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49224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PIPELINE STEPS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098548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235708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244852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REST ENDPOINTS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3694176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3831336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40480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MCP TOOLS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289804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426964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36108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ADAPTER VERBS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85432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022592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031736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CONTRACTS / SCHEMAS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481060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618220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627364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TESTS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0076688" y="448056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0213848" y="458114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222992" y="498348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DECISIONS (ADRS)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02920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0080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49224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WEB UI COMPONENTS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098548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235708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3A6BFF"/>
                </a:solidFill>
                <a:latin typeface="Hanken Grotesk"/>
              </a:rPr>
              <a:t>{{n}}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244852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JetBrains Mono"/>
              </a:rPr>
              <a:t>SQL / MIGRATIONS</a:t>
            </a:r>
          </a:p>
        </p:txBody>
      </p:sp>
      <p:sp>
        <p:nvSpPr>
          <p:cNvPr id="96" name="Rectangle 95"/>
          <p:cNvSpPr/>
          <p:nvPr/>
        </p:nvSpPr>
        <p:spPr>
          <a:xfrm>
            <a:off x="3694176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831336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F82AB"/>
                </a:solidFill>
                <a:latin typeface="Hanken Grotesk"/>
              </a:rPr>
              <a:t>{{n}}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840480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MOBILE SCREENS</a:t>
            </a:r>
          </a:p>
        </p:txBody>
      </p:sp>
      <p:sp>
        <p:nvSpPr>
          <p:cNvPr id="99" name="Rectangle 98"/>
          <p:cNvSpPr/>
          <p:nvPr/>
        </p:nvSpPr>
        <p:spPr>
          <a:xfrm>
            <a:off x="5289804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5426964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F82AB"/>
                </a:solidFill>
                <a:latin typeface="Hanken Grotesk"/>
              </a:rPr>
              <a:t>{{n}}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36108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DOCKERFILES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885432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22592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F82AB"/>
                </a:solidFill>
                <a:latin typeface="Hanken Grotesk"/>
              </a:rPr>
              <a:t>{{n}}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31736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GRAPHQL APIS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481060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618220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F82AB"/>
                </a:solidFill>
                <a:latin typeface="Hanken Grotesk"/>
              </a:rPr>
              <a:t>{{n}}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27364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PROTOBUF DEFS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076688" y="5257800"/>
            <a:ext cx="1554480" cy="749808"/>
          </a:xfrm>
          <a:prstGeom prst="rect">
            <a:avLst/>
          </a:prstGeom>
          <a:solidFill>
            <a:srgbClr val="0A1024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213848" y="5358384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6F82AB"/>
                </a:solidFill>
                <a:latin typeface="Hanken Grotesk"/>
              </a:rPr>
              <a:t>{{n}}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222992" y="5760720"/>
            <a:ext cx="1371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IAC (TERRAFORM)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REPOSITORY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How this audit was produced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TEMPLATE · one row per subagent/lens (finder, model, severity counts) + a TOTAL row; note the model-routing rationale.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47088"/>
            <a:ext cx="11183112" cy="310896"/>
          </a:xfrm>
          <a:prstGeom prst="rect">
            <a:avLst/>
          </a:prstGeom>
          <a:solidFill>
            <a:srgbClr val="12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865376"/>
            <a:ext cx="4754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i="0" b="1">
                <a:solidFill>
                  <a:srgbClr val="EAF0FB"/>
                </a:solidFill>
                <a:latin typeface="Hanken Grotesk"/>
              </a:rPr>
              <a:t>Discipline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4688" y="1865376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i="0" b="1">
                <a:solidFill>
                  <a:srgbClr val="93A4C6"/>
                </a:solidFill>
                <a:latin typeface="JetBrains Mono"/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39128" y="186537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93A4C6"/>
                </a:solidFill>
                <a:latin typeface="JetBrains Mono"/>
              </a:rPr>
              <a:t>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7574" y="186537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6F82AB"/>
                </a:solidFill>
                <a:latin typeface="JetBrains Mono"/>
              </a:rPr>
              <a:t>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6020" y="186537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6F82AB"/>
                </a:solidFill>
                <a:latin typeface="JetBrains Mono"/>
              </a:rPr>
              <a:t>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24467" y="186537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FFB020"/>
                </a:solidFill>
                <a:latin typeface="JetBrains Mono"/>
              </a:rPr>
              <a:t>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2913" y="186537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2FD07A"/>
                </a:solidFill>
                <a:latin typeface="JetBrains Mono"/>
              </a:rPr>
              <a:t>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157984"/>
            <a:ext cx="11183112" cy="31089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2176272"/>
            <a:ext cx="4754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Discipline 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04688" y="2176272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{{model}}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39128" y="2176272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{{C}}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67574" y="2176272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B3B4E"/>
                </a:solidFill>
                <a:latin typeface="JetBrains Mono"/>
              </a:rPr>
              <a:t>{{H}}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6020" y="2176272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B3B4E"/>
                </a:solidFill>
                <a:latin typeface="JetBrains Mono"/>
              </a:rPr>
              <a:t>{{M}}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24467" y="2176272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B020"/>
                </a:solidFill>
                <a:latin typeface="JetBrains Mono"/>
              </a:rPr>
              <a:t>{{L}}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2913" y="2176272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FD07A"/>
                </a:solidFill>
                <a:latin typeface="JetBrains Mono"/>
              </a:rPr>
              <a:t>{{I}}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468880"/>
            <a:ext cx="11183112" cy="310896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487168"/>
            <a:ext cx="4754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Discipline 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04688" y="2487168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{{model}}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39128" y="2487168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{{C}}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7574" y="2487168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F82AB"/>
                </a:solidFill>
                <a:latin typeface="JetBrains Mono"/>
              </a:rPr>
              <a:t>{{H}}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6020" y="2487168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F82AB"/>
                </a:solidFill>
                <a:latin typeface="JetBrains Mono"/>
              </a:rPr>
              <a:t>{{M}}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24467" y="2487168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B020"/>
                </a:solidFill>
                <a:latin typeface="JetBrains Mono"/>
              </a:rPr>
              <a:t>{{L}}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2913" y="2487168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FD07A"/>
                </a:solidFill>
                <a:latin typeface="JetBrains Mono"/>
              </a:rPr>
              <a:t>{{I}}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2779776"/>
            <a:ext cx="11183112" cy="31089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" y="2798064"/>
            <a:ext cx="4754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Discipline 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04688" y="2798064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{{model}}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39128" y="2798064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{{C}}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7574" y="2798064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B3B4E"/>
                </a:solidFill>
                <a:latin typeface="JetBrains Mono"/>
              </a:rPr>
              <a:t>{{H}}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6020" y="2798064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B3B4E"/>
                </a:solidFill>
                <a:latin typeface="JetBrains Mono"/>
              </a:rPr>
              <a:t>{{M}}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24467" y="2798064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FFB020"/>
                </a:solidFill>
                <a:latin typeface="JetBrains Mono"/>
              </a:rPr>
              <a:t>{{L}}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2913" y="2798064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FD07A"/>
                </a:solidFill>
                <a:latin typeface="JetBrains Mono"/>
              </a:rPr>
              <a:t>{{I}}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3090672"/>
            <a:ext cx="11183112" cy="310896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" y="3108960"/>
            <a:ext cx="4754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3108960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/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39128" y="3108960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E8EC8"/>
                </a:solidFill>
                <a:latin typeface="JetBrains Mono"/>
              </a:rPr>
              <a:t/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67574" y="3108960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E8EC8"/>
                </a:solidFill>
                <a:latin typeface="JetBrains Mono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96020" y="3108960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E8EC8"/>
                </a:solidFill>
                <a:latin typeface="JetBrains Mono"/>
              </a:rPr>
              <a:t/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24467" y="3108960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E8EC8"/>
                </a:solidFill>
                <a:latin typeface="JetBrains Mono"/>
              </a:rPr>
              <a:t/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2913" y="3108960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7E8EC8"/>
                </a:solidFill>
                <a:latin typeface="JetBrains Mono"/>
              </a:rPr>
              <a:t/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3401568"/>
            <a:ext cx="11183112" cy="310896"/>
          </a:xfrm>
          <a:prstGeom prst="rect">
            <a:avLst/>
          </a:prstGeom>
          <a:solidFill>
            <a:srgbClr val="121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3401568"/>
            <a:ext cx="11183112" cy="20116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2648" y="3419856"/>
            <a:ext cx="475487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i="0" b="1">
                <a:solidFill>
                  <a:srgbClr val="EAF0FB"/>
                </a:solidFill>
                <a:latin typeface="Hanken Grotesk"/>
              </a:rPr>
              <a:t>TOTAL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504688" y="3419856"/>
            <a:ext cx="10972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JetBrains Mono"/>
              </a:rPr>
              <a:t/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39128" y="341985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93A4C6"/>
                </a:solidFill>
                <a:latin typeface="JetBrains Mono"/>
              </a:rPr>
              <a:t>{{Σ}}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7574" y="341985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FB3B4E"/>
                </a:solidFill>
                <a:latin typeface="JetBrains Mono"/>
              </a:rPr>
              <a:t>{{Σ}}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96020" y="341985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FB3B4E"/>
                </a:solidFill>
                <a:latin typeface="JetBrains Mono"/>
              </a:rPr>
              <a:t>{{Σ}}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24467" y="341985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FFB020"/>
                </a:solidFill>
                <a:latin typeface="JetBrains Mono"/>
              </a:rPr>
              <a:t>{{Σ}}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2913" y="3419856"/>
            <a:ext cx="691286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i="0" b="1">
                <a:solidFill>
                  <a:srgbClr val="2FD07A"/>
                </a:solidFill>
                <a:latin typeface="JetBrains Mono"/>
              </a:rPr>
              <a:t>{{Σ}}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1847088"/>
            <a:ext cx="11183112" cy="1865376"/>
          </a:xfrm>
          <a:prstGeom prst="rect">
            <a:avLst/>
          </a:prstGeom>
          <a:noFill/>
          <a:ln w="12700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MANIFEST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What we think of how it's built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b="1" i="0">
                <a:solidFill>
                  <a:srgbClr val="EAF0FB"/>
                </a:solidFill>
                <a:latin typeface="Hanken Grotesk"/>
              </a:rPr>
              <a:t>TEMPLATE · an honest narrative of how the system is built: 4-6 short labelled paragraphs, strengths and where the risk 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73936"/>
            <a:ext cx="41148" cy="749808"/>
          </a:xfrm>
          <a:prstGeom prst="rect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i="0" b="1">
                <a:solidFill>
                  <a:srgbClr val="EAF0FB"/>
                </a:solidFill>
                <a:latin typeface="Hanken Grotesk"/>
              </a:rPr>
              <a:t>{{ Strength or risk headline }}</a:t>
            </a:r>
          </a:p>
          <a:p>
            <a:pPr algn="l">
              <a:spcBef>
                <a:spcPts val="500"/>
              </a:spcBef>
              <a:lnSpc>
                <a:spcPct val="102000"/>
              </a:lnSpc>
            </a:pPr>
            <a:r>
              <a:rPr sz="1300" i="0" b="0">
                <a:solidFill>
                  <a:srgbClr val="9DAAC6"/>
                </a:solidFill>
                <a:latin typeface="Hanken Grotesk"/>
              </a:rPr>
              <a:t>{{ 2-3 sentence honest assessment; concrete and specific, not pitched. 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70048"/>
            <a:ext cx="41148" cy="749808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633472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i="0" b="1">
                <a:solidFill>
                  <a:srgbClr val="EAF0FB"/>
                </a:solidFill>
                <a:latin typeface="Hanken Grotesk"/>
              </a:rPr>
              <a:t>{{ Strength or risk headline }}</a:t>
            </a:r>
          </a:p>
          <a:p>
            <a:pPr algn="l">
              <a:spcBef>
                <a:spcPts val="500"/>
              </a:spcBef>
              <a:lnSpc>
                <a:spcPct val="102000"/>
              </a:lnSpc>
            </a:pPr>
            <a:r>
              <a:rPr sz="1300" i="0" b="0">
                <a:solidFill>
                  <a:srgbClr val="9DAAC6"/>
                </a:solidFill>
                <a:latin typeface="Hanken Grotesk"/>
              </a:rPr>
              <a:t>{{ 2-3 sentence honest assessment; concrete and specific, not pitched. 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66160"/>
            <a:ext cx="41148" cy="749808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52958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i="0" b="1">
                <a:solidFill>
                  <a:srgbClr val="EAF0FB"/>
                </a:solidFill>
                <a:latin typeface="Hanken Grotesk"/>
              </a:rPr>
              <a:t>{{ Strength or risk headline }}</a:t>
            </a:r>
          </a:p>
          <a:p>
            <a:pPr algn="l">
              <a:spcBef>
                <a:spcPts val="500"/>
              </a:spcBef>
              <a:lnSpc>
                <a:spcPct val="102000"/>
              </a:lnSpc>
            </a:pPr>
            <a:r>
              <a:rPr sz="1300" i="0" b="0">
                <a:solidFill>
                  <a:srgbClr val="9DAAC6"/>
                </a:solidFill>
                <a:latin typeface="Hanken Grotesk"/>
              </a:rPr>
              <a:t>{{ 2-3 sentence honest assessment; concrete and specific, not pitched. 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462272"/>
            <a:ext cx="41148" cy="74980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425696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i="0" b="1">
                <a:solidFill>
                  <a:srgbClr val="EAF0FB"/>
                </a:solidFill>
                <a:latin typeface="Hanken Grotesk"/>
              </a:rPr>
              <a:t>{{ Strength or risk headline }}</a:t>
            </a:r>
          </a:p>
          <a:p>
            <a:pPr algn="l">
              <a:spcBef>
                <a:spcPts val="500"/>
              </a:spcBef>
              <a:lnSpc>
                <a:spcPct val="102000"/>
              </a:lnSpc>
            </a:pPr>
            <a:r>
              <a:rPr sz="1300" i="0" b="0">
                <a:solidFill>
                  <a:srgbClr val="9DAAC6"/>
                </a:solidFill>
                <a:latin typeface="Hanken Grotesk"/>
              </a:rPr>
              <a:t>{{ 2-3 sentence honest assessment; concrete and specific, not pitched. 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58384"/>
            <a:ext cx="41148" cy="749808"/>
          </a:xfrm>
          <a:prstGeom prst="rect">
            <a:avLst/>
          </a:prstGeom>
          <a:solidFill>
            <a:srgbClr val="6B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321808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300" i="0" b="1">
                <a:solidFill>
                  <a:srgbClr val="EAF0FB"/>
                </a:solidFill>
                <a:latin typeface="Hanken Grotesk"/>
              </a:rPr>
              <a:t>{{ Strength or risk headline }}</a:t>
            </a:r>
          </a:p>
          <a:p>
            <a:pPr algn="l">
              <a:spcBef>
                <a:spcPts val="500"/>
              </a:spcBef>
              <a:lnSpc>
                <a:spcPct val="102000"/>
              </a:lnSpc>
            </a:pPr>
            <a:r>
              <a:rPr sz="1300" i="0" b="0">
                <a:solidFill>
                  <a:srgbClr val="9DAAC6"/>
                </a:solidFill>
                <a:latin typeface="Hanken Grotesk"/>
              </a:rPr>
              <a:t>{{ 2-3 sentence honest assessment; concrete and specific, not pitched. 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COMMENTARY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Health / hardness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TEMPLATE · overall 0-100 + grade, weighted from per-dimension readiness bars (auditor-synthesised, not a raw finding count). Keep the rubric transparent.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743200" cy="416052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2743200" cy="109728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377440"/>
            <a:ext cx="2743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FB6E3B"/>
                </a:solidFill>
                <a:latin typeface="Hanken Grotesk"/>
              </a:rPr>
              <a:t>{{NN}}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429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93A4C6"/>
                </a:solidFill>
                <a:latin typeface="JetBrains Mono"/>
              </a:rPr>
              <a:t>/ 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840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JetBrains Mono"/>
              </a:rPr>
              <a:t>GRADE  </a:t>
            </a:r>
            <a:r>
              <a:rPr sz="1100" b="0" i="0">
                <a:solidFill>
                  <a:srgbClr val="93A4C6"/>
                </a:solidFill>
                <a:latin typeface="Hanken Grotesk"/>
              </a:rPr>
              <a:t>{{X}}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663440"/>
            <a:ext cx="2468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one-line synthesis of the score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874519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46520" y="1929384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46520" y="1929384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61320" y="1874519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188159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2243023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46520" y="2243023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61320" y="2188159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{{n}}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2501798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46520" y="2556662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46520" y="2556662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61320" y="2501798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B020"/>
                </a:solidFill>
                <a:latin typeface="Hanken Grotesk"/>
              </a:rPr>
              <a:t>{{n}}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2815437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2870301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46520" y="2870301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61320" y="2815437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129076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3183940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46520" y="3183940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61320" y="3129076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0" y="3442715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497579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46520" y="3497579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1320" y="3442715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{{n}}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3756355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46520" y="3811219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46520" y="3811219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561320" y="3756355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{{n}}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0" y="4069994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46520" y="4124858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46520" y="4124858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61320" y="4069994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FB020"/>
                </a:solidFill>
                <a:latin typeface="Hanken Grotesk"/>
              </a:rPr>
              <a:t>{{n}}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657600" y="4383633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46520" y="4438497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46520" y="4438497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61320" y="4383633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0" y="469727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46520" y="4752136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46520" y="4752136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561320" y="4697272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5010912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46520" y="5065776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46520" y="5065776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61320" y="5010912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0" y="5324551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446520" y="5379415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446520" y="5379415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61320" y="5324551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{{n}}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0" y="5638190"/>
            <a:ext cx="274320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Dimension }}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46520" y="5693054"/>
            <a:ext cx="3977639" cy="173736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46520" y="5693054"/>
            <a:ext cx="2187702" cy="173736"/>
          </a:xfrm>
          <a:prstGeom prst="rect">
            <a:avLst/>
          </a:prstGeom>
          <a:solidFill>
            <a:srgbClr val="6F82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561320" y="5638190"/>
            <a:ext cx="6400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{{n}}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SCORECARD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The one risk path that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TEMPLATE · the single most important issue as a step-by-step chain (swap for a top-themes layout if the review is not security-led).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11183112" cy="88696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74519"/>
            <a:ext cx="41148" cy="886968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93391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6E3B"/>
                </a:solidFill>
                <a:latin typeface="Hanken Grotesk"/>
              </a:rPr>
              <a:t>{{ Step 1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65960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what happens at this step, and the control that fails 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871215"/>
            <a:ext cx="11183112" cy="88696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871215"/>
            <a:ext cx="41148" cy="88696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7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3B4E"/>
                </a:solidFill>
                <a:latin typeface="Hanken Grotesk"/>
              </a:rPr>
              <a:t>{{ Step 2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962656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what happens at this step, and the control that fails 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67911"/>
            <a:ext cx="11183112" cy="88696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67911"/>
            <a:ext cx="41148" cy="88696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986783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3B4E"/>
                </a:solidFill>
                <a:latin typeface="Hanken Grotesk"/>
              </a:rPr>
              <a:t>{{ Step 3 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959351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what happens at this step, and the control that fails 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864607"/>
            <a:ext cx="11183112" cy="88696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864607"/>
            <a:ext cx="41148" cy="886968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983479"/>
            <a:ext cx="30175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B3B4E"/>
                </a:solidFill>
                <a:latin typeface="Hanken Grotesk"/>
              </a:rPr>
              <a:t>{{ Step 4 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956047"/>
            <a:ext cx="7498079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what happens at this step, and the control that fails 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93A4C6"/>
                </a:solidFill>
                <a:latin typeface="Hanken Grotesk"/>
              </a:rPr>
              <a:t>{{ Fix: the small, forced-by-construction changes that break the chain 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RISK 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Convergent themes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TEMPLATE · load-bearing issues each found independently by 2+ lenses/models; list their finding IDs.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4572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32004" cy="457200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1828800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82880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04288"/>
            <a:ext cx="11183112" cy="45720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304288"/>
            <a:ext cx="32004" cy="457200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2304288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304288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79776"/>
            <a:ext cx="11183112" cy="4572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79776"/>
            <a:ext cx="32004" cy="457200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2779776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779776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55264"/>
            <a:ext cx="11183112" cy="45720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55264"/>
            <a:ext cx="32004" cy="457200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3255264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55264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730752"/>
            <a:ext cx="11183112" cy="4572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3730752"/>
            <a:ext cx="32004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3730752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3730752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206240"/>
            <a:ext cx="11183112" cy="45720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4206240"/>
            <a:ext cx="32004" cy="457200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4206240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4206240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681727"/>
            <a:ext cx="11183112" cy="4572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4681727"/>
            <a:ext cx="32004" cy="4572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3232" y="4681727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AF0FB"/>
                </a:solidFill>
                <a:latin typeface="Hanken Grotesk"/>
              </a:rPr>
              <a:t>{{ Convergent theme 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4681727"/>
            <a:ext cx="5029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FINDING-IDS 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THEMES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Critical findings ({{n}})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TEMPLATE · one line per Critical finding; full evidence + fix live in the per-category detail files.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11183112" cy="56692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41148" cy="56692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1828800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critical finding title }}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   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{{ - finder 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450592"/>
            <a:ext cx="11183112" cy="56692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2450592"/>
            <a:ext cx="41148" cy="56692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450592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450592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critical finding title }}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   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{{ - finder 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11183112" cy="56692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072384"/>
            <a:ext cx="41148" cy="56692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72384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072384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critical finding title }}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   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{{ - finder 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94176"/>
            <a:ext cx="11183112" cy="56692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694176"/>
            <a:ext cx="41148" cy="56692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94176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3694176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critical finding title }}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   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{{ - finder 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315968"/>
            <a:ext cx="11183112" cy="566928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315968"/>
            <a:ext cx="41148" cy="566928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315968"/>
            <a:ext cx="1554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31720" y="4315968"/>
            <a:ext cx="9144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EAF0FB"/>
                </a:solidFill>
                <a:latin typeface="Hanken Grotesk"/>
              </a:rPr>
              <a:t>{{ critical finding title }}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   </a:t>
            </a:r>
            <a:r>
              <a:rPr sz="900" b="0" i="0">
                <a:solidFill>
                  <a:srgbClr val="EAF0FB"/>
                </a:solidFill>
                <a:latin typeface="Hanken Grotesk"/>
              </a:rPr>
              <a:t>{{ - finder 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CRITICALS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{{ Category }} -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17320"/>
            <a:ext cx="1118311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What it means: a one-line description of what this category covers 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57984"/>
            <a:ext cx="11183112" cy="27432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57984"/>
            <a:ext cx="27432" cy="274320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157984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2157984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B3B4E"/>
                </a:solidFill>
                <a:latin typeface="JetBrains Mono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35808" y="2157984"/>
            <a:ext cx="8595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one-line finding title, extended to fill the width of the box 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432303"/>
            <a:ext cx="11183112" cy="27432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432303"/>
            <a:ext cx="27432" cy="274320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2432303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3B4E"/>
                </a:solidFill>
                <a:latin typeface="Hanken Grotesk"/>
              </a:rPr>
              <a:t>{{ID}}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432303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B3B4E"/>
                </a:solidFill>
                <a:latin typeface="JetBrains Mono"/>
              </a:rP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35808" y="2432303"/>
            <a:ext cx="8595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one-line finding title, extended to fill the width of the box 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2706623"/>
            <a:ext cx="11183112" cy="27432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706623"/>
            <a:ext cx="27432" cy="27432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2706623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{{ID}}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706623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B6E3B"/>
                </a:solidFill>
                <a:latin typeface="JetBrains Mono"/>
              </a:rPr>
              <a:t>Medium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35808" y="2706623"/>
            <a:ext cx="8595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one-line finding title, extended to fill the width of the box 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2980943"/>
            <a:ext cx="11183112" cy="27432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2980943"/>
            <a:ext cx="27432" cy="274320"/>
          </a:xfrm>
          <a:prstGeom prst="rect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980943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{{ID}}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03120" y="2980943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B6E3B"/>
                </a:solidFill>
                <a:latin typeface="JetBrains Mono"/>
              </a:rPr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35808" y="2980943"/>
            <a:ext cx="8595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one-line finding title, extended to fill the width of the box }}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255263"/>
            <a:ext cx="11183112" cy="27432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02920" y="3255263"/>
            <a:ext cx="27432" cy="27432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" y="3255263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{{ID}}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3255263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B6E3B"/>
                </a:solidFill>
                <a:latin typeface="JetBrains Mono"/>
              </a:rPr>
              <a:t>Info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35808" y="3255263"/>
            <a:ext cx="8595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one-line finding title, extended to fill the width of the box 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529583"/>
            <a:ext cx="11183112" cy="27432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02920" y="3529583"/>
            <a:ext cx="27432" cy="274320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3529583"/>
            <a:ext cx="1417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Hanken Grotesk"/>
              </a:rPr>
              <a:t>{{ID}}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3529583"/>
            <a:ext cx="9144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FB6E3B"/>
                </a:solidFill>
                <a:latin typeface="JetBrains Mono"/>
              </a:rPr>
              <a:t>High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35808" y="3529583"/>
            <a:ext cx="8595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EAF0FB"/>
                </a:solidFill>
                <a:latin typeface="Hanken Grotesk"/>
              </a:rPr>
              <a:t>{{ one-line finding title, extended to fill the width of the box 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069080"/>
            <a:ext cx="11183112" cy="457200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069080"/>
            <a:ext cx="32004" cy="45720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" y="4069080"/>
            <a:ext cx="108813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>
                <a:solidFill>
                  <a:srgbClr val="FB6E3B"/>
                </a:solidFill>
                <a:latin typeface="JetBrains Mono"/>
              </a:rPr>
              <a:t>TEMPLATE  </a:t>
            </a:r>
            <a:r>
              <a:rPr sz="900" b="1" i="0">
                <a:solidFill>
                  <a:srgbClr val="FB6E3B"/>
                </a:solidFill>
                <a:latin typeface="Hanken Grotesk"/>
              </a:rPr>
              <a:t>Repeat this slide per category. Every finding: ID, colour-coded severity, one-line title filling the box. ~15 rows/slide; keep the 'what it means' line.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FINDINGS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{{AUDIT TYPE}}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82296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AF0FB"/>
                </a:solidFill>
                <a:latin typeface="Hanken Grotesk"/>
              </a:rPr>
              <a:t>Strengths to preserve  ·  and the 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481328"/>
            <a:ext cx="111556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1100" b="0" i="1">
                <a:solidFill>
                  <a:srgbClr val="6B8FFF"/>
                </a:solidFill>
                <a:latin typeface="Hanken Grotesk"/>
              </a:rPr>
              <a:t>TEMPLATE · left: invariants to keep while hardening. Right: prioritised remediation P0-P3.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402336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91440"/>
          </a:xfrm>
          <a:prstGeom prst="rect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057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JetBrains Mono"/>
              </a:rPr>
              <a:t>PRESERVE AS 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Hanken Grotesk"/>
              </a:rPr>
              <a:t>✓  </a:t>
            </a:r>
            <a:r>
              <a:rPr sz="1100" b="1" i="0">
                <a:solidFill>
                  <a:srgbClr val="2FD07A"/>
                </a:solidFill>
                <a:latin typeface="Hanken Grotesk"/>
              </a:rPr>
              <a:t>{{ a genuine strength to keep 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39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Hanken Grotesk"/>
              </a:rPr>
              <a:t>✓  </a:t>
            </a:r>
            <a:r>
              <a:rPr sz="1100" b="1" i="0">
                <a:solidFill>
                  <a:srgbClr val="2FD07A"/>
                </a:solidFill>
                <a:latin typeface="Hanken Grotesk"/>
              </a:rPr>
              <a:t>{{ a genuine strength to keep 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Hanken Grotesk"/>
              </a:rPr>
              <a:t>✓  </a:t>
            </a:r>
            <a:r>
              <a:rPr sz="1100" b="1" i="0">
                <a:solidFill>
                  <a:srgbClr val="2FD07A"/>
                </a:solidFill>
                <a:latin typeface="Hanken Grotesk"/>
              </a:rPr>
              <a:t>{{ a genuine strength to keep 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6908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Hanken Grotesk"/>
              </a:rPr>
              <a:t>✓  </a:t>
            </a:r>
            <a:r>
              <a:rPr sz="1100" b="1" i="0">
                <a:solidFill>
                  <a:srgbClr val="2FD07A"/>
                </a:solidFill>
                <a:latin typeface="Hanken Grotesk"/>
              </a:rPr>
              <a:t>{{ a genuine strength to keep 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Hanken Grotesk"/>
              </a:rPr>
              <a:t>✓  </a:t>
            </a:r>
            <a:r>
              <a:rPr sz="1100" b="1" i="0">
                <a:solidFill>
                  <a:srgbClr val="2FD07A"/>
                </a:solidFill>
                <a:latin typeface="Hanken Grotesk"/>
              </a:rPr>
              <a:t>{{ a genuine strength to keep 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74920"/>
            <a:ext cx="5074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Hanken Grotesk"/>
              </a:rPr>
              <a:t>✓  </a:t>
            </a:r>
            <a:r>
              <a:rPr sz="1100" b="1" i="0">
                <a:solidFill>
                  <a:srgbClr val="2FD07A"/>
                </a:solidFill>
                <a:latin typeface="Hanken Grotesk"/>
              </a:rPr>
              <a:t>{{ a genuine strength to keep }}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1828800"/>
            <a:ext cx="5486400" cy="4023360"/>
          </a:xfrm>
          <a:prstGeom prst="rect">
            <a:avLst/>
          </a:prstGeom>
          <a:solidFill>
            <a:srgbClr val="0E1730"/>
          </a:solidFill>
          <a:ln w="9525">
            <a:solidFill>
              <a:srgbClr val="2A38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1828800"/>
            <a:ext cx="5486400" cy="9144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057400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REMEDIATION ROADMAP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28232" y="2606040"/>
            <a:ext cx="566928" cy="365760"/>
          </a:xfrm>
          <a:prstGeom prst="rect">
            <a:avLst/>
          </a:prstGeom>
          <a:solidFill>
            <a:srgbClr val="FB3B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28232" y="2606040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70C18"/>
                </a:solidFill>
                <a:latin typeface="JetBrains Mono"/>
              </a:rPr>
              <a:t>P0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14032" y="2606040"/>
            <a:ext cx="4434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the items in this priority tier 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28232" y="3392424"/>
            <a:ext cx="566928" cy="365760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8232" y="3392424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70C18"/>
                </a:solidFill>
                <a:latin typeface="JetBrains Mono"/>
              </a:rP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14032" y="3392424"/>
            <a:ext cx="4434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the items in this priority tier }}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28232" y="4178808"/>
            <a:ext cx="566928" cy="36576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28232" y="4178808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70C18"/>
                </a:solidFill>
                <a:latin typeface="JetBrains Mono"/>
              </a:rPr>
              <a:t>P2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4032" y="4178808"/>
            <a:ext cx="4434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the items in this priority tier 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28232" y="4965192"/>
            <a:ext cx="566928" cy="365760"/>
          </a:xfrm>
          <a:prstGeom prst="rect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8232" y="4965192"/>
            <a:ext cx="56692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070C18"/>
                </a:solidFill>
                <a:latin typeface="JetBrains Mon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14032" y="4965192"/>
            <a:ext cx="44348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93A4C6"/>
                </a:solidFill>
                <a:latin typeface="Hanken Grotesk"/>
              </a:rPr>
              <a:t>{{ the items in this priority tier 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ROADMAP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5566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JetBrains Mono"/>
              </a:rPr>
              <a:t>09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81328"/>
          </a:xfrm>
          <a:prstGeom prst="rect">
            <a:avLst/>
          </a:prstGeom>
          <a:solidFill>
            <a:srgbClr val="0A10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384048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EVALATION  ·  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713232"/>
            <a:ext cx="11183112" cy="18288"/>
          </a:xfrm>
          <a:prstGeom prst="rect">
            <a:avLst/>
          </a:prstGeom>
          <a:solidFill>
            <a:srgbClr val="2A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Evalation Logo 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1919" y="310896"/>
            <a:ext cx="384112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841248"/>
            <a:ext cx="8778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EAF0FB"/>
                </a:solidFill>
                <a:latin typeface="Hanken Grotesk"/>
              </a:rPr>
              <a:t>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72768"/>
            <a:ext cx="1118311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Lead: what the system is, and the one-line overall finding. Written for a diligence reader, honest, not pitched. }}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450592"/>
            <a:ext cx="32004" cy="1783080"/>
          </a:xfrm>
          <a:prstGeom prst="rect">
            <a:avLst/>
          </a:prstGeom>
          <a:solidFill>
            <a:srgbClr val="2FD0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2432304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FD07A"/>
                </a:solidFill>
                <a:latin typeface="JetBrains Mono"/>
              </a:rPr>
              <a:t>HOW WELL IT IS 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79776"/>
            <a:ext cx="52303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3-4 sentences for this section: honest, specific, balanced. 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45352" y="2450592"/>
            <a:ext cx="32004" cy="1783080"/>
          </a:xfrm>
          <a:prstGeom prst="rect">
            <a:avLst/>
          </a:prstGeom>
          <a:solidFill>
            <a:srgbClr val="FB6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2432304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B6E3B"/>
                </a:solidFill>
                <a:latin typeface="JetBrains Mono"/>
              </a:rPr>
              <a:t>WHERE THE RISK 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779776"/>
            <a:ext cx="52303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3-4 sentences for this section: honest, specific, balanced. 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43984"/>
            <a:ext cx="32004" cy="1783080"/>
          </a:xfrm>
          <a:prstGeom prst="rect">
            <a:avLst/>
          </a:prstGeom>
          <a:solidFill>
            <a:srgbClr val="3A6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4256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3A6BFF"/>
                </a:solidFill>
                <a:latin typeface="JetBrains Mono"/>
              </a:rPr>
              <a:t>WHAT IT TAKES TO CLOSE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4773168"/>
            <a:ext cx="52303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3-4 sentences for this section: honest, specific, balanced. 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45352" y="4443984"/>
            <a:ext cx="32004" cy="1783080"/>
          </a:xfrm>
          <a:prstGeom prst="rect">
            <a:avLst/>
          </a:prstGeom>
          <a:solidFill>
            <a:srgbClr val="6B8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8" y="4425696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8FFF"/>
                </a:solidFill>
                <a:latin typeface="JetBrains Mono"/>
              </a:rPr>
              <a:t>THE BOTTOM 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4773168"/>
            <a:ext cx="5230368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100" b="0" i="0">
                <a:solidFill>
                  <a:srgbClr val="93A4C6"/>
                </a:solidFill>
                <a:latin typeface="Hanken Grotesk"/>
              </a:rPr>
              <a:t>{{ 3-4 sentences for this section: honest, specific, balanced. 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55664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F82AB"/>
                </a:solidFill>
                <a:latin typeface="Hanken Grotesk"/>
              </a:rPr>
              <a:t>{{ N findings · N critical · N high · N lenses · read-only · hardness NN/100 · detail in the report + findings files 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