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331720"/>
            <a:ext cx="1371600" cy="82296"/>
          </a:xfrm>
          <a:prstGeom prst="rect">
            <a:avLst/>
          </a:prstGeom>
          <a:solidFill>
            <a:srgbClr val="0F5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A6BFF"/>
                </a:solidFill>
                <a:latin typeface="Hanken Grotesk"/>
              </a:rPr>
              <a:t>{{ PRODUCT / REPOSITORY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8778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EAF0FB"/>
                </a:solidFill>
                <a:latin typeface="Hanken Grotesk"/>
              </a:rPr>
              <a:t>{{ Audit title }}</a:t>
            </a:r>
          </a:p>
        </p:txBody>
      </p:sp>
      <p:pic>
        <p:nvPicPr>
          <p:cNvPr id="7" name="Picture 6" descr="Evalation Logo 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6811" y="603504"/>
            <a:ext cx="1899221" cy="16276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2514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3A4C6"/>
                </a:solidFill>
                <a:latin typeface="Hanken Grotesk"/>
              </a:rPr>
              <a:t>{{ Read-only multi-agent review · N lenses · models used · trunk &lt;sha&gt; 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429000"/>
            <a:ext cx="2651760" cy="1234440"/>
          </a:xfrm>
          <a:prstGeom prst="rect">
            <a:avLst/>
          </a:prstGeom>
          <a:solidFill>
            <a:srgbClr val="0E1730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429000"/>
            <a:ext cx="41148" cy="1234440"/>
          </a:xfrm>
          <a:prstGeom prst="rect">
            <a:avLst/>
          </a:prstGeom>
          <a:solidFill>
            <a:srgbClr val="3A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75887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3434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3A4C6"/>
                </a:solidFill>
                <a:latin typeface="JetBrains Mono"/>
              </a:rPr>
              <a:t>FINDINGS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00984" y="3429000"/>
            <a:ext cx="2651760" cy="1234440"/>
          </a:xfrm>
          <a:prstGeom prst="rect">
            <a:avLst/>
          </a:prstGeom>
          <a:solidFill>
            <a:srgbClr val="0E1730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00984" y="3429000"/>
            <a:ext cx="41148" cy="1234440"/>
          </a:xfrm>
          <a:prstGeom prst="rect">
            <a:avLst/>
          </a:prstGeom>
          <a:solidFill>
            <a:srgbClr val="3A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3675887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B3B4E"/>
                </a:solidFill>
                <a:latin typeface="Hanken Grotesk"/>
              </a:rPr>
              <a:t>{{N}}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43434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3A4C6"/>
                </a:solidFill>
                <a:latin typeface="JetBrains Mono"/>
              </a:rPr>
              <a:t>CRITICAL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3429000"/>
            <a:ext cx="2651760" cy="1234440"/>
          </a:xfrm>
          <a:prstGeom prst="rect">
            <a:avLst/>
          </a:prstGeom>
          <a:solidFill>
            <a:srgbClr val="0E1730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9048" y="3429000"/>
            <a:ext cx="41148" cy="1234440"/>
          </a:xfrm>
          <a:prstGeom prst="rect">
            <a:avLst/>
          </a:prstGeom>
          <a:solidFill>
            <a:srgbClr val="3A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675887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B6E3B"/>
                </a:solidFill>
                <a:latin typeface="Hanken Grotesk"/>
              </a:rPr>
              <a:t>{{N}}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43434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3A4C6"/>
                </a:solidFill>
                <a:latin typeface="JetBrains Mono"/>
              </a:rPr>
              <a:t>HIGH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97112" y="3429000"/>
            <a:ext cx="2651760" cy="1234440"/>
          </a:xfrm>
          <a:prstGeom prst="rect">
            <a:avLst/>
          </a:prstGeom>
          <a:solidFill>
            <a:srgbClr val="0E1730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97112" y="3429000"/>
            <a:ext cx="41148" cy="1234440"/>
          </a:xfrm>
          <a:prstGeom prst="rect">
            <a:avLst/>
          </a:prstGeom>
          <a:solidFill>
            <a:srgbClr val="3A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3675887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B6E3B"/>
                </a:solidFill>
                <a:latin typeface="Hanken Grotesk"/>
              </a:rPr>
              <a:t>{{N}}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43434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3A4C6"/>
                </a:solidFill>
                <a:latin typeface="JetBrains Mono"/>
              </a:rPr>
              <a:t>HARDNESS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7492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AF0FB"/>
                </a:solidFill>
                <a:latin typeface="Hanken Grotesk"/>
              </a:rPr>
              <a:t>Overall verdict:  </a:t>
            </a:r>
            <a:r>
              <a:rPr sz="1300" b="1" i="0">
                <a:solidFill>
                  <a:srgbClr val="EAF0FB"/>
                </a:solidFill>
                <a:latin typeface="Hanken Grotesk"/>
              </a:rPr>
              <a:t>{{ one honest, top-line sentence: what the system is and the headline judgment }}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989320"/>
            <a:ext cx="11183112" cy="457200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989320"/>
            <a:ext cx="32004" cy="457200"/>
          </a:xfrm>
          <a:prstGeom prst="rect">
            <a:avLst/>
          </a:prstGeom>
          <a:solidFill>
            <a:srgbClr val="3A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989320"/>
            <a:ext cx="10881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TEMPLATE  </a:t>
            </a:r>
            <a:r>
              <a:rPr sz="900" b="0" i="0">
                <a:solidFill>
                  <a:srgbClr val="6F82AB"/>
                </a:solidFill>
                <a:latin typeface="Hanken Grotesk"/>
              </a:rPr>
              <a:t>Title slide: audit identity, top-line counts, one-sentence verdict. Big logo right of the title; header logo on every other slide.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A6BFF"/>
                </a:solidFill>
                <a:latin typeface="JetBrains Mono"/>
              </a:rPr>
              <a:t>EVALATION ENGINE  ·  {{AUDIT TYPE}}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8288"/>
          </a:xfrm>
          <a:prstGeom prst="rect">
            <a:avLst/>
          </a:prstGeom>
          <a:solidFill>
            <a:srgbClr val="2A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alation Logo 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19" y="310896"/>
            <a:ext cx="384112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AF0FB"/>
                </a:solidFill>
                <a:latin typeface="Hanken Grotesk"/>
              </a:rPr>
              <a:t>Repository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93A4C6"/>
                </a:solidFill>
                <a:latin typeface="Hanken Grotesk"/>
              </a:rPr>
              <a:t>TEMPLATE · GitHub-style language split + an engineering-object inventory measured from the tree. Fill counts; show 0 for object types not present.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993392"/>
            <a:ext cx="11183112" cy="292608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93392"/>
            <a:ext cx="4696907" cy="292608"/>
          </a:xfrm>
          <a:prstGeom prst="rect">
            <a:avLst/>
          </a:prstGeom>
          <a:solidFill>
            <a:srgbClr val="2FD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99827" y="1993392"/>
            <a:ext cx="2236622" cy="292608"/>
          </a:xfrm>
          <a:prstGeom prst="rect">
            <a:avLst/>
          </a:prstGeom>
          <a:solidFill>
            <a:srgbClr val="3A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6449" y="1993392"/>
            <a:ext cx="1565635" cy="292608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02085" y="1993392"/>
            <a:ext cx="1118311" cy="292608"/>
          </a:xfrm>
          <a:prstGeom prst="rect">
            <a:avLst/>
          </a:prstGeom>
          <a:solidFill>
            <a:srgbClr val="FB6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120396" y="1993392"/>
            <a:ext cx="894648" cy="292608"/>
          </a:xfrm>
          <a:prstGeom prst="rect">
            <a:avLst/>
          </a:prstGeom>
          <a:solidFill>
            <a:srgbClr val="6B8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015045" y="1993392"/>
            <a:ext cx="670986" cy="292608"/>
          </a:xfrm>
          <a:prstGeom prst="rect">
            <a:avLst/>
          </a:prstGeom>
          <a:solidFill>
            <a:srgbClr val="93A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02920" y="2432304"/>
            <a:ext cx="100584" cy="100584"/>
          </a:xfrm>
          <a:prstGeom prst="ellipse">
            <a:avLst/>
          </a:prstGeom>
          <a:solidFill>
            <a:srgbClr val="2FD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2386584"/>
            <a:ext cx="14630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{{Lang}} {{%}}</a:t>
            </a:r>
          </a:p>
        </p:txBody>
      </p:sp>
      <p:sp>
        <p:nvSpPr>
          <p:cNvPr id="17" name="Oval 16"/>
          <p:cNvSpPr/>
          <p:nvPr/>
        </p:nvSpPr>
        <p:spPr>
          <a:xfrm>
            <a:off x="2103120" y="2432304"/>
            <a:ext cx="100584" cy="100584"/>
          </a:xfrm>
          <a:prstGeom prst="ellipse">
            <a:avLst/>
          </a:prstGeom>
          <a:solidFill>
            <a:srgbClr val="3A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7712" y="2386584"/>
            <a:ext cx="14630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{{Lang}} {{%}}</a:t>
            </a:r>
          </a:p>
        </p:txBody>
      </p:sp>
      <p:sp>
        <p:nvSpPr>
          <p:cNvPr id="19" name="Oval 18"/>
          <p:cNvSpPr/>
          <p:nvPr/>
        </p:nvSpPr>
        <p:spPr>
          <a:xfrm>
            <a:off x="3703320" y="2432304"/>
            <a:ext cx="100584" cy="10058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67911" y="2386584"/>
            <a:ext cx="14630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{{Lang}} {{%}}</a:t>
            </a:r>
          </a:p>
        </p:txBody>
      </p:sp>
      <p:sp>
        <p:nvSpPr>
          <p:cNvPr id="21" name="Oval 20"/>
          <p:cNvSpPr/>
          <p:nvPr/>
        </p:nvSpPr>
        <p:spPr>
          <a:xfrm>
            <a:off x="5303520" y="2432304"/>
            <a:ext cx="100584" cy="100584"/>
          </a:xfrm>
          <a:prstGeom prst="ellipse">
            <a:avLst/>
          </a:prstGeom>
          <a:solidFill>
            <a:srgbClr val="FB6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68112" y="2386584"/>
            <a:ext cx="14630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{{Lang}} {{%}}</a:t>
            </a:r>
          </a:p>
        </p:txBody>
      </p:sp>
      <p:sp>
        <p:nvSpPr>
          <p:cNvPr id="23" name="Oval 22"/>
          <p:cNvSpPr/>
          <p:nvPr/>
        </p:nvSpPr>
        <p:spPr>
          <a:xfrm>
            <a:off x="6903720" y="2432304"/>
            <a:ext cx="100584" cy="100584"/>
          </a:xfrm>
          <a:prstGeom prst="ellipse">
            <a:avLst/>
          </a:prstGeom>
          <a:solidFill>
            <a:srgbClr val="6B8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68312" y="2386584"/>
            <a:ext cx="14630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{{Lang}} {{%}}</a:t>
            </a:r>
          </a:p>
        </p:txBody>
      </p:sp>
      <p:sp>
        <p:nvSpPr>
          <p:cNvPr id="25" name="Oval 24"/>
          <p:cNvSpPr/>
          <p:nvPr/>
        </p:nvSpPr>
        <p:spPr>
          <a:xfrm>
            <a:off x="8503920" y="2432304"/>
            <a:ext cx="100584" cy="100584"/>
          </a:xfrm>
          <a:prstGeom prst="ellipse">
            <a:avLst/>
          </a:prstGeom>
          <a:solidFill>
            <a:srgbClr val="93A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68512" y="2386584"/>
            <a:ext cx="14630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{{Lang}} {{%}}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92608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02666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" y="342900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FILES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98548" y="292608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35708" y="302666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4852" y="342900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LINES OF CODE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94176" y="292608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31336" y="302666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342900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COMMITS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9804" y="292608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26964" y="302666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36108" y="342900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LANGUAGES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85432" y="292608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02666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31736" y="342900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DEPENDENCIES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81060" y="292608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18220" y="302666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27364" y="342900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CI JOBS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76688" y="292608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13848" y="302666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22992" y="342900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DOCS PAGES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70332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380390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" y="4206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SERVICES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98548" y="370332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35708" y="380390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44852" y="4206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ADAPTERS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94176" y="370332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31336" y="380390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0480" y="4206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HOOKS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89804" y="370332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26964" y="380390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36108" y="4206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GUARDS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85432" y="370332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22592" y="380390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31736" y="4206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GATES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81060" y="370332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18220" y="380390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27364" y="4206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LOOP SCRIPTS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076688" y="370332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13848" y="380390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22992" y="4206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SKILLS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448056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458114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9224" y="498348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PIPELINE STEPS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98548" y="448056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235708" y="458114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44852" y="498348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REST ENDPOINTS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94176" y="448056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831336" y="458114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40480" y="498348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MCP TOOLS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289804" y="448056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26964" y="458114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36108" y="498348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ADAPTER VERBS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885432" y="448056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22592" y="458114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31736" y="498348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CONTRACTS / SCHEMAS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81060" y="448056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18220" y="458114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27364" y="498348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TESTS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076688" y="448056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213848" y="458114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222992" y="498348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DECISIONS (ADRS)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" y="525780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0080" y="535838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9224" y="576072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WEB UI COMPONENTS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098548" y="525780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235708" y="535838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6BFF"/>
                </a:solidFill>
                <a:latin typeface="Hanken Grotesk"/>
              </a:rPr>
              <a:t>{{n}}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244852" y="576072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JetBrains Mono"/>
              </a:rPr>
              <a:t>SQL / MIGRATIONS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94176" y="525780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831336" y="535838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6F82AB"/>
                </a:solidFill>
                <a:latin typeface="Hanken Grotesk"/>
              </a:rPr>
              <a:t>{{n}}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76072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MOBILE SCREENS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289804" y="525780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426964" y="535838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6F82AB"/>
                </a:solidFill>
                <a:latin typeface="Hanken Grotesk"/>
              </a:rPr>
              <a:t>{{n}}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36108" y="576072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DOCKERFILES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85432" y="525780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022592" y="535838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6F82AB"/>
                </a:solidFill>
                <a:latin typeface="Hanken Grotesk"/>
              </a:rPr>
              <a:t>{{n}}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31736" y="576072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GRAPHQL APIS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481060" y="525780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618220" y="535838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6F82AB"/>
                </a:solidFill>
                <a:latin typeface="Hanken Grotesk"/>
              </a:rPr>
              <a:t>{{n}}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627364" y="576072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PROTOBUF DEFS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076688" y="5257800"/>
            <a:ext cx="1554480" cy="749808"/>
          </a:xfrm>
          <a:prstGeom prst="rect">
            <a:avLst/>
          </a:prstGeom>
          <a:solidFill>
            <a:srgbClr val="0A1024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213848" y="535838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6F82AB"/>
                </a:solidFill>
                <a:latin typeface="Hanken Grotesk"/>
              </a:rPr>
              <a:t>{{n}}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22992" y="576072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IAC (TERRAFORM)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REPOSITORY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A6BFF"/>
                </a:solidFill>
                <a:latin typeface="JetBrains Mono"/>
              </a:rPr>
              <a:t>EVALATION ENGINE  ·  {{AUDIT TYPE}}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8288"/>
          </a:xfrm>
          <a:prstGeom prst="rect">
            <a:avLst/>
          </a:prstGeom>
          <a:solidFill>
            <a:srgbClr val="2A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alation Logo 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19" y="310896"/>
            <a:ext cx="384112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AF0FB"/>
                </a:solidFill>
                <a:latin typeface="Hanken Grotesk"/>
              </a:rPr>
              <a:t>How this audit was produced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93A4C6"/>
                </a:solidFill>
                <a:latin typeface="Hanken Grotesk"/>
              </a:rPr>
              <a:t>TEMPLATE · one row per subagent/lens (finder, model, severity counts) + a TOTAL row; note the model-routing rationale.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47088"/>
            <a:ext cx="11183112" cy="310896"/>
          </a:xfrm>
          <a:prstGeom prst="rect">
            <a:avLst/>
          </a:prstGeom>
          <a:solidFill>
            <a:srgbClr val="12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865376"/>
            <a:ext cx="475487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i="0" b="1">
                <a:solidFill>
                  <a:srgbClr val="EAF0FB"/>
                </a:solidFill>
                <a:latin typeface="Hanken Grotesk"/>
              </a:rPr>
              <a:t>Discipline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04688" y="1865376"/>
            <a:ext cx="10972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i="0" b="1">
                <a:solidFill>
                  <a:srgbClr val="93A4C6"/>
                </a:solidFill>
                <a:latin typeface="JetBrains Mono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1865376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i="0" b="1">
                <a:solidFill>
                  <a:srgbClr val="93A4C6"/>
                </a:solidFill>
                <a:latin typeface="JetBrains Mono"/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67574" y="1865376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i="0" b="1">
                <a:solidFill>
                  <a:srgbClr val="6F82AB"/>
                </a:solidFill>
                <a:latin typeface="JetBrains Mono"/>
              </a:rPr>
              <a:t>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6020" y="1865376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i="0" b="1">
                <a:solidFill>
                  <a:srgbClr val="6F82AB"/>
                </a:solidFill>
                <a:latin typeface="JetBrains Mono"/>
              </a:rPr>
              <a:t>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4467" y="1865376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i="0" b="1">
                <a:solidFill>
                  <a:srgbClr val="FFB020"/>
                </a:solidFill>
                <a:latin typeface="JetBrains Mono"/>
              </a:rPr>
              <a:t>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2913" y="1865376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i="0" b="1">
                <a:solidFill>
                  <a:srgbClr val="2FD07A"/>
                </a:solidFill>
                <a:latin typeface="JetBrains Mono"/>
              </a:rPr>
              <a:t>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157984"/>
            <a:ext cx="11183112" cy="310896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176272"/>
            <a:ext cx="475487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AF0FB"/>
                </a:solidFill>
                <a:latin typeface="Hanken Grotesk"/>
              </a:rPr>
              <a:t>{{ Discipline 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04688" y="2176272"/>
            <a:ext cx="10972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3A4C6"/>
                </a:solidFill>
                <a:latin typeface="JetBrains Mono"/>
              </a:rPr>
              <a:t>{{model}}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2176272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93A4C6"/>
                </a:solidFill>
                <a:latin typeface="JetBrains Mono"/>
              </a:rPr>
              <a:t>{{C}}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7574" y="2176272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B3B4E"/>
                </a:solidFill>
                <a:latin typeface="JetBrains Mono"/>
              </a:rPr>
              <a:t>{{H}}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6020" y="2176272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B3B4E"/>
                </a:solidFill>
                <a:latin typeface="JetBrains Mono"/>
              </a:rPr>
              <a:t>{{M}}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4467" y="2176272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B020"/>
                </a:solidFill>
                <a:latin typeface="JetBrains Mono"/>
              </a:rPr>
              <a:t>{{L}}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2913" y="2176272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FD07A"/>
                </a:solidFill>
                <a:latin typeface="JetBrains Mono"/>
              </a:rPr>
              <a:t>{{I}}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468880"/>
            <a:ext cx="11183112" cy="310896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2487168"/>
            <a:ext cx="475487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AF0FB"/>
                </a:solidFill>
                <a:latin typeface="Hanken Grotesk"/>
              </a:rPr>
              <a:t>{{ Discipline }}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04688" y="2487168"/>
            <a:ext cx="10972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3A4C6"/>
                </a:solidFill>
                <a:latin typeface="JetBrains Mono"/>
              </a:rPr>
              <a:t>{{model}}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39128" y="2487168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93A4C6"/>
                </a:solidFill>
                <a:latin typeface="JetBrains Mono"/>
              </a:rPr>
              <a:t>{{C}}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67574" y="2487168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F82AB"/>
                </a:solidFill>
                <a:latin typeface="JetBrains Mono"/>
              </a:rPr>
              <a:t>{{H}}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6020" y="2487168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F82AB"/>
                </a:solidFill>
                <a:latin typeface="JetBrains Mono"/>
              </a:rPr>
              <a:t>{{M}}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467" y="2487168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B020"/>
                </a:solidFill>
                <a:latin typeface="JetBrains Mono"/>
              </a:rPr>
              <a:t>{{L}}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2913" y="2487168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FD07A"/>
                </a:solidFill>
                <a:latin typeface="JetBrains Mono"/>
              </a:rPr>
              <a:t>{{I}}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779776"/>
            <a:ext cx="11183112" cy="310896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2798064"/>
            <a:ext cx="475487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AF0FB"/>
                </a:solidFill>
                <a:latin typeface="Hanken Grotesk"/>
              </a:rPr>
              <a:t>{{ Discipline }}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04688" y="2798064"/>
            <a:ext cx="10972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3A4C6"/>
                </a:solidFill>
                <a:latin typeface="JetBrains Mono"/>
              </a:rPr>
              <a:t>{{model}}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39128" y="2798064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93A4C6"/>
                </a:solidFill>
                <a:latin typeface="JetBrains Mono"/>
              </a:rPr>
              <a:t>{{C}}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7574" y="2798064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B3B4E"/>
                </a:solidFill>
                <a:latin typeface="JetBrains Mono"/>
              </a:rPr>
              <a:t>{{H}}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96020" y="2798064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B3B4E"/>
                </a:solidFill>
                <a:latin typeface="JetBrains Mono"/>
              </a:rPr>
              <a:t>{{M}}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24467" y="2798064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B020"/>
                </a:solidFill>
                <a:latin typeface="JetBrains Mono"/>
              </a:rPr>
              <a:t>{{L}}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2913" y="2798064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FD07A"/>
                </a:solidFill>
                <a:latin typeface="JetBrains Mono"/>
              </a:rPr>
              <a:t>{{I}}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090672"/>
            <a:ext cx="11183112" cy="310896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3108960"/>
            <a:ext cx="475487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AF0FB"/>
                </a:solidFill>
                <a:latin typeface="Hanken Grotesk"/>
              </a:rPr>
              <a:t>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04688" y="3108960"/>
            <a:ext cx="10972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3A4C6"/>
                </a:solidFill>
                <a:latin typeface="JetBrains Mono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39128" y="3108960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7E8EC8"/>
                </a:solidFill>
                <a:latin typeface="JetBrains Mono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67574" y="3108960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7E8EC8"/>
                </a:solidFill>
                <a:latin typeface="JetBrains Mono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6020" y="3108960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7E8EC8"/>
                </a:solidFill>
                <a:latin typeface="JetBrains Mono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24467" y="3108960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7E8EC8"/>
                </a:solidFill>
                <a:latin typeface="JetBrains Mono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2913" y="3108960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7E8EC8"/>
                </a:solidFill>
                <a:latin typeface="JetBrains Mono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401568"/>
            <a:ext cx="11183112" cy="310896"/>
          </a:xfrm>
          <a:prstGeom prst="rect">
            <a:avLst/>
          </a:prstGeom>
          <a:solidFill>
            <a:srgbClr val="12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3401568"/>
            <a:ext cx="11183112" cy="20116"/>
          </a:xfrm>
          <a:prstGeom prst="rect">
            <a:avLst/>
          </a:prstGeom>
          <a:solidFill>
            <a:srgbClr val="3A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2648" y="3419856"/>
            <a:ext cx="475487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i="0" b="1">
                <a:solidFill>
                  <a:srgbClr val="EAF0FB"/>
                </a:solidFill>
                <a:latin typeface="Hanken Grotesk"/>
              </a:rPr>
              <a:t>TOTAL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3419856"/>
            <a:ext cx="10972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AF0FB"/>
                </a:solidFill>
                <a:latin typeface="JetBrains Mono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39128" y="3419856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i="0" b="1">
                <a:solidFill>
                  <a:srgbClr val="93A4C6"/>
                </a:solidFill>
                <a:latin typeface="JetBrains Mono"/>
              </a:rPr>
              <a:t>{{Σ}}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67574" y="3419856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i="0" b="1">
                <a:solidFill>
                  <a:srgbClr val="FB3B4E"/>
                </a:solidFill>
                <a:latin typeface="JetBrains Mono"/>
              </a:rPr>
              <a:t>{{Σ}}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96020" y="3419856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i="0" b="1">
                <a:solidFill>
                  <a:srgbClr val="FB3B4E"/>
                </a:solidFill>
                <a:latin typeface="JetBrains Mono"/>
              </a:rPr>
              <a:t>{{Σ}}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24467" y="3419856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i="0" b="1">
                <a:solidFill>
                  <a:srgbClr val="FFB020"/>
                </a:solidFill>
                <a:latin typeface="JetBrains Mono"/>
              </a:rPr>
              <a:t>{{Σ}}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2913" y="3419856"/>
            <a:ext cx="6912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i="0" b="1">
                <a:solidFill>
                  <a:srgbClr val="2FD07A"/>
                </a:solidFill>
                <a:latin typeface="JetBrains Mono"/>
              </a:rPr>
              <a:t>{{Σ}}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1847088"/>
            <a:ext cx="11183112" cy="1865376"/>
          </a:xfrm>
          <a:prstGeom prst="rect">
            <a:avLst/>
          </a:prstGeom>
          <a:noFill/>
          <a:ln w="12700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MANIFEST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A6BFF"/>
                </a:solidFill>
                <a:latin typeface="JetBrains Mono"/>
              </a:rPr>
              <a:t>EVALATION ENGINE  ·  {{AUDIT TYPE}}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8288"/>
          </a:xfrm>
          <a:prstGeom prst="rect">
            <a:avLst/>
          </a:prstGeom>
          <a:solidFill>
            <a:srgbClr val="2A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alation Logo 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19" y="310896"/>
            <a:ext cx="384112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AF0FB"/>
                </a:solidFill>
                <a:latin typeface="Hanken Grotesk"/>
              </a:rPr>
              <a:t>What we think of how it's 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EAF0FB"/>
                </a:solidFill>
                <a:latin typeface="Hanken Grotesk"/>
              </a:rPr>
              <a:t>TEMPLATE · an honest narrative of how the system is built: 4-6 short labelled paragraphs, strengths and where the risk 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73936"/>
            <a:ext cx="41148" cy="749808"/>
          </a:xfrm>
          <a:prstGeom prst="rect">
            <a:avLst/>
          </a:prstGeom>
          <a:solidFill>
            <a:srgbClr val="2FD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i="0" b="1">
                <a:solidFill>
                  <a:srgbClr val="EAF0FB"/>
                </a:solidFill>
                <a:latin typeface="Hanken Grotesk"/>
              </a:rPr>
              <a:t>{{ Strength or risk headline }}</a:t>
            </a:r>
          </a:p>
          <a:p>
            <a:pPr algn="l">
              <a:spcBef>
                <a:spcPts val="500"/>
              </a:spcBef>
              <a:lnSpc>
                <a:spcPct val="102000"/>
              </a:lnSpc>
            </a:pPr>
            <a:r>
              <a:rPr sz="1300" i="0" b="0">
                <a:solidFill>
                  <a:srgbClr val="9DAAC6"/>
                </a:solidFill>
                <a:latin typeface="Hanken Grotesk"/>
              </a:rPr>
              <a:t>{{ 2-3 sentence honest assessment; concrete and specific, not pitched. 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670048"/>
            <a:ext cx="41148" cy="749808"/>
          </a:xfrm>
          <a:prstGeom prst="rect">
            <a:avLst/>
          </a:prstGeom>
          <a:solidFill>
            <a:srgbClr val="FB6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33472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i="0" b="1">
                <a:solidFill>
                  <a:srgbClr val="EAF0FB"/>
                </a:solidFill>
                <a:latin typeface="Hanken Grotesk"/>
              </a:rPr>
              <a:t>{{ Strength or risk headline }}</a:t>
            </a:r>
          </a:p>
          <a:p>
            <a:pPr algn="l">
              <a:spcBef>
                <a:spcPts val="500"/>
              </a:spcBef>
              <a:lnSpc>
                <a:spcPct val="102000"/>
              </a:lnSpc>
            </a:pPr>
            <a:r>
              <a:rPr sz="1300" i="0" b="0">
                <a:solidFill>
                  <a:srgbClr val="9DAAC6"/>
                </a:solidFill>
                <a:latin typeface="Hanken Grotesk"/>
              </a:rPr>
              <a:t>{{ 2-3 sentence honest assessment; concrete and specific, not pitched. 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566160"/>
            <a:ext cx="41148" cy="749808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29584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i="0" b="1">
                <a:solidFill>
                  <a:srgbClr val="EAF0FB"/>
                </a:solidFill>
                <a:latin typeface="Hanken Grotesk"/>
              </a:rPr>
              <a:t>{{ Strength or risk headline }}</a:t>
            </a:r>
          </a:p>
          <a:p>
            <a:pPr algn="l">
              <a:spcBef>
                <a:spcPts val="500"/>
              </a:spcBef>
              <a:lnSpc>
                <a:spcPct val="102000"/>
              </a:lnSpc>
            </a:pPr>
            <a:r>
              <a:rPr sz="1300" i="0" b="0">
                <a:solidFill>
                  <a:srgbClr val="9DAAC6"/>
                </a:solidFill>
                <a:latin typeface="Hanken Grotesk"/>
              </a:rPr>
              <a:t>{{ 2-3 sentence honest assessment; concrete and specific, not pitched. 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462272"/>
            <a:ext cx="41148" cy="749808"/>
          </a:xfrm>
          <a:prstGeom prst="rect">
            <a:avLst/>
          </a:prstGeom>
          <a:solidFill>
            <a:srgbClr val="FB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25696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i="0" b="1">
                <a:solidFill>
                  <a:srgbClr val="EAF0FB"/>
                </a:solidFill>
                <a:latin typeface="Hanken Grotesk"/>
              </a:rPr>
              <a:t>{{ Strength or risk headline }}</a:t>
            </a:r>
          </a:p>
          <a:p>
            <a:pPr algn="l">
              <a:spcBef>
                <a:spcPts val="500"/>
              </a:spcBef>
              <a:lnSpc>
                <a:spcPct val="102000"/>
              </a:lnSpc>
            </a:pPr>
            <a:r>
              <a:rPr sz="1300" i="0" b="0">
                <a:solidFill>
                  <a:srgbClr val="9DAAC6"/>
                </a:solidFill>
                <a:latin typeface="Hanken Grotesk"/>
              </a:rPr>
              <a:t>{{ 2-3 sentence honest assessment; concrete and specific, not pitched. 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358384"/>
            <a:ext cx="41148" cy="749808"/>
          </a:xfrm>
          <a:prstGeom prst="rect">
            <a:avLst/>
          </a:prstGeom>
          <a:solidFill>
            <a:srgbClr val="6B8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32180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i="0" b="1">
                <a:solidFill>
                  <a:srgbClr val="EAF0FB"/>
                </a:solidFill>
                <a:latin typeface="Hanken Grotesk"/>
              </a:rPr>
              <a:t>{{ Strength or risk headline }}</a:t>
            </a:r>
          </a:p>
          <a:p>
            <a:pPr algn="l">
              <a:spcBef>
                <a:spcPts val="500"/>
              </a:spcBef>
              <a:lnSpc>
                <a:spcPct val="102000"/>
              </a:lnSpc>
            </a:pPr>
            <a:r>
              <a:rPr sz="1300" i="0" b="0">
                <a:solidFill>
                  <a:srgbClr val="9DAAC6"/>
                </a:solidFill>
                <a:latin typeface="Hanken Grotesk"/>
              </a:rPr>
              <a:t>{{ 2-3 sentence honest assessment; concrete and specific, not pitched. 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COMMENTARY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A6BFF"/>
                </a:solidFill>
                <a:latin typeface="JetBrains Mono"/>
              </a:rPr>
              <a:t>EVALATION ENGINE  ·  {{AUDIT TYPE}}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8288"/>
          </a:xfrm>
          <a:prstGeom prst="rect">
            <a:avLst/>
          </a:prstGeom>
          <a:solidFill>
            <a:srgbClr val="2A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alation Logo 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19" y="310896"/>
            <a:ext cx="384112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AF0FB"/>
                </a:solidFill>
                <a:latin typeface="Hanken Grotesk"/>
              </a:rPr>
              <a:t>Health / hardness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93A4C6"/>
                </a:solidFill>
                <a:latin typeface="Hanken Grotesk"/>
              </a:rPr>
              <a:t>TEMPLATE · overall 0-100 + grade, weighted from per-dimension readiness bars (auditor-synthesised, not a raw finding count). Keep the rubric transparent.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74519"/>
            <a:ext cx="2743200" cy="4160520"/>
          </a:xfrm>
          <a:prstGeom prst="rect">
            <a:avLst/>
          </a:prstGeom>
          <a:solidFill>
            <a:srgbClr val="0E1730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2743200" cy="109728"/>
          </a:xfrm>
          <a:prstGeom prst="rect">
            <a:avLst/>
          </a:prstGeom>
          <a:solidFill>
            <a:srgbClr val="3A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77440"/>
            <a:ext cx="2743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 i="0">
                <a:solidFill>
                  <a:srgbClr val="FB6E3B"/>
                </a:solidFill>
                <a:latin typeface="Hanken Grotesk"/>
              </a:rPr>
              <a:t>{{NN}}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93A4C6"/>
                </a:solidFill>
                <a:latin typeface="JetBrains Mono"/>
              </a:rPr>
              <a:t>/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404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93A4C6"/>
                </a:solidFill>
                <a:latin typeface="JetBrains Mono"/>
              </a:rPr>
              <a:t>GRADE  </a:t>
            </a:r>
            <a:r>
              <a:rPr sz="1100" b="0" i="0">
                <a:solidFill>
                  <a:srgbClr val="93A4C6"/>
                </a:solidFill>
                <a:latin typeface="Hanken Grotesk"/>
              </a:rPr>
              <a:t>{{X}}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663440"/>
            <a:ext cx="2468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Hanken Grotesk"/>
              </a:rPr>
              <a:t>{{ one-line synthesis of the score 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874519"/>
            <a:ext cx="2743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 Dimension }}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929384"/>
            <a:ext cx="3977639" cy="173736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1929384"/>
            <a:ext cx="2187702" cy="173736"/>
          </a:xfrm>
          <a:prstGeom prst="rect">
            <a:avLst/>
          </a:prstGeom>
          <a:solidFill>
            <a:srgbClr val="6F82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61320" y="1874519"/>
            <a:ext cx="640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6E3B"/>
                </a:solidFill>
                <a:latin typeface="Hanken Grotesk"/>
              </a:rPr>
              <a:t>{{n}}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188159"/>
            <a:ext cx="2743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 Dimension 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2243023"/>
            <a:ext cx="3977639" cy="173736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46520" y="2243023"/>
            <a:ext cx="2187702" cy="173736"/>
          </a:xfrm>
          <a:prstGeom prst="rect">
            <a:avLst/>
          </a:prstGeom>
          <a:solidFill>
            <a:srgbClr val="6F82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61320" y="2188159"/>
            <a:ext cx="640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3B4E"/>
                </a:solidFill>
                <a:latin typeface="Hanken Grotesk"/>
              </a:rPr>
              <a:t>{{n}}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01798"/>
            <a:ext cx="2743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 Dimension }}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6520" y="2556662"/>
            <a:ext cx="3977639" cy="173736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46520" y="2556662"/>
            <a:ext cx="2187702" cy="173736"/>
          </a:xfrm>
          <a:prstGeom prst="rect">
            <a:avLst/>
          </a:prstGeom>
          <a:solidFill>
            <a:srgbClr val="6F82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61320" y="2501798"/>
            <a:ext cx="640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B020"/>
                </a:solidFill>
                <a:latin typeface="Hanken Grotesk"/>
              </a:rPr>
              <a:t>{{n}}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2815437"/>
            <a:ext cx="2743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 Dimension }}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2870301"/>
            <a:ext cx="3977639" cy="173736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46520" y="2870301"/>
            <a:ext cx="2187702" cy="173736"/>
          </a:xfrm>
          <a:prstGeom prst="rect">
            <a:avLst/>
          </a:prstGeom>
          <a:solidFill>
            <a:srgbClr val="6F82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61320" y="2815437"/>
            <a:ext cx="640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6E3B"/>
                </a:solidFill>
                <a:latin typeface="Hanken Grotesk"/>
              </a:rPr>
              <a:t>{{n}}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3129076"/>
            <a:ext cx="2743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 Dimension }}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46520" y="3183940"/>
            <a:ext cx="3977639" cy="173736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46520" y="3183940"/>
            <a:ext cx="2187702" cy="173736"/>
          </a:xfrm>
          <a:prstGeom prst="rect">
            <a:avLst/>
          </a:prstGeom>
          <a:solidFill>
            <a:srgbClr val="6F82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61320" y="3129076"/>
            <a:ext cx="640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6E3B"/>
                </a:solidFill>
                <a:latin typeface="Hanken Grotesk"/>
              </a:rPr>
              <a:t>{{n}}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3442715"/>
            <a:ext cx="2743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 Dimension }}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3497579"/>
            <a:ext cx="3977639" cy="173736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46520" y="3497579"/>
            <a:ext cx="2187702" cy="173736"/>
          </a:xfrm>
          <a:prstGeom prst="rect">
            <a:avLst/>
          </a:prstGeom>
          <a:solidFill>
            <a:srgbClr val="6F82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61320" y="3442715"/>
            <a:ext cx="640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3B4E"/>
                </a:solidFill>
                <a:latin typeface="Hanken Grotesk"/>
              </a:rPr>
              <a:t>{{n}}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3756355"/>
            <a:ext cx="2743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 Dimension }}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3811219"/>
            <a:ext cx="3977639" cy="173736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46520" y="3811219"/>
            <a:ext cx="2187702" cy="173736"/>
          </a:xfrm>
          <a:prstGeom prst="rect">
            <a:avLst/>
          </a:prstGeom>
          <a:solidFill>
            <a:srgbClr val="6F82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61320" y="3756355"/>
            <a:ext cx="640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3B4E"/>
                </a:solidFill>
                <a:latin typeface="Hanken Grotesk"/>
              </a:rPr>
              <a:t>{{n}}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4069994"/>
            <a:ext cx="2743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 Dimension }}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46520" y="4124858"/>
            <a:ext cx="3977639" cy="173736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46520" y="4124858"/>
            <a:ext cx="2187702" cy="173736"/>
          </a:xfrm>
          <a:prstGeom prst="rect">
            <a:avLst/>
          </a:prstGeom>
          <a:solidFill>
            <a:srgbClr val="6F82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61320" y="4069994"/>
            <a:ext cx="640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B020"/>
                </a:solidFill>
                <a:latin typeface="Hanken Grotesk"/>
              </a:rPr>
              <a:t>{{n}}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0" y="4383633"/>
            <a:ext cx="2743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 Dimension }}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46520" y="4438497"/>
            <a:ext cx="3977639" cy="173736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46520" y="4438497"/>
            <a:ext cx="2187702" cy="173736"/>
          </a:xfrm>
          <a:prstGeom prst="rect">
            <a:avLst/>
          </a:prstGeom>
          <a:solidFill>
            <a:srgbClr val="6F82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61320" y="4383633"/>
            <a:ext cx="640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6E3B"/>
                </a:solidFill>
                <a:latin typeface="Hanken Grotesk"/>
              </a:rPr>
              <a:t>{{n}}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0" y="4697272"/>
            <a:ext cx="2743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 Dimension }}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46520" y="4752136"/>
            <a:ext cx="3977639" cy="173736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46520" y="4752136"/>
            <a:ext cx="2187702" cy="173736"/>
          </a:xfrm>
          <a:prstGeom prst="rect">
            <a:avLst/>
          </a:prstGeom>
          <a:solidFill>
            <a:srgbClr val="6F82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61320" y="4697272"/>
            <a:ext cx="640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6E3B"/>
                </a:solidFill>
                <a:latin typeface="Hanken Grotesk"/>
              </a:rPr>
              <a:t>{{n}}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0" y="5010912"/>
            <a:ext cx="2743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 Dimension }}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46520" y="5065776"/>
            <a:ext cx="3977639" cy="173736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46520" y="5065776"/>
            <a:ext cx="2187702" cy="173736"/>
          </a:xfrm>
          <a:prstGeom prst="rect">
            <a:avLst/>
          </a:prstGeom>
          <a:solidFill>
            <a:srgbClr val="6F82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61320" y="5010912"/>
            <a:ext cx="640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6E3B"/>
                </a:solidFill>
                <a:latin typeface="Hanken Grotesk"/>
              </a:rPr>
              <a:t>{{n}}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0" y="5324551"/>
            <a:ext cx="2743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 Dimension }}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46520" y="5379415"/>
            <a:ext cx="3977639" cy="173736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46520" y="5379415"/>
            <a:ext cx="2187702" cy="173736"/>
          </a:xfrm>
          <a:prstGeom prst="rect">
            <a:avLst/>
          </a:prstGeom>
          <a:solidFill>
            <a:srgbClr val="6F82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561320" y="5324551"/>
            <a:ext cx="640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3B4E"/>
                </a:solidFill>
                <a:latin typeface="Hanken Grotesk"/>
              </a:rPr>
              <a:t>{{n}}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0" y="5638190"/>
            <a:ext cx="2743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 Dimension }}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46520" y="5693054"/>
            <a:ext cx="3977639" cy="173736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446520" y="5693054"/>
            <a:ext cx="2187702" cy="173736"/>
          </a:xfrm>
          <a:prstGeom prst="rect">
            <a:avLst/>
          </a:prstGeom>
          <a:solidFill>
            <a:srgbClr val="6F82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61320" y="5638190"/>
            <a:ext cx="640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6E3B"/>
                </a:solidFill>
                <a:latin typeface="Hanken Grotesk"/>
              </a:rPr>
              <a:t>{{n}}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SCORECARD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A6BFF"/>
                </a:solidFill>
                <a:latin typeface="JetBrains Mono"/>
              </a:rPr>
              <a:t>EVALATION ENGINE  ·  {{AUDIT TYPE}}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8288"/>
          </a:xfrm>
          <a:prstGeom prst="rect">
            <a:avLst/>
          </a:prstGeom>
          <a:solidFill>
            <a:srgbClr val="2A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alation Logo 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19" y="310896"/>
            <a:ext cx="384112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AF0FB"/>
                </a:solidFill>
                <a:latin typeface="Hanken Grotesk"/>
              </a:rPr>
              <a:t>The one risk path that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93A4C6"/>
                </a:solidFill>
                <a:latin typeface="Hanken Grotesk"/>
              </a:rPr>
              <a:t>TEMPLATE · the single most important issue as a step-by-step chain (swap for a top-themes layout if the review is not security-led).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74519"/>
            <a:ext cx="11183112" cy="886968"/>
          </a:xfrm>
          <a:prstGeom prst="rect">
            <a:avLst/>
          </a:prstGeom>
          <a:solidFill>
            <a:srgbClr val="0E1730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41148" cy="886968"/>
          </a:xfrm>
          <a:prstGeom prst="rect">
            <a:avLst/>
          </a:prstGeom>
          <a:solidFill>
            <a:srgbClr val="FB6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93391"/>
            <a:ext cx="30175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B6E3B"/>
                </a:solidFill>
                <a:latin typeface="Hanken Grotesk"/>
              </a:rPr>
              <a:t>{{ Step 1 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965960"/>
            <a:ext cx="7498079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3A4C6"/>
                </a:solidFill>
                <a:latin typeface="Hanken Grotesk"/>
              </a:rPr>
              <a:t>{{ what happens at this step, and the control that fails 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871215"/>
            <a:ext cx="11183112" cy="886968"/>
          </a:xfrm>
          <a:prstGeom prst="rect">
            <a:avLst/>
          </a:prstGeom>
          <a:solidFill>
            <a:srgbClr val="0E1730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871215"/>
            <a:ext cx="41148" cy="886968"/>
          </a:xfrm>
          <a:prstGeom prst="rect">
            <a:avLst/>
          </a:prstGeom>
          <a:solidFill>
            <a:srgbClr val="FB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0087"/>
            <a:ext cx="30175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B3B4E"/>
                </a:solidFill>
                <a:latin typeface="Hanken Grotesk"/>
              </a:rPr>
              <a:t>{{ Step 2 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962656"/>
            <a:ext cx="7498079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3A4C6"/>
                </a:solidFill>
                <a:latin typeface="Hanken Grotesk"/>
              </a:rPr>
              <a:t>{{ what happens at this step, and the control that fails 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867911"/>
            <a:ext cx="11183112" cy="886968"/>
          </a:xfrm>
          <a:prstGeom prst="rect">
            <a:avLst/>
          </a:prstGeom>
          <a:solidFill>
            <a:srgbClr val="0E1730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867911"/>
            <a:ext cx="41148" cy="886968"/>
          </a:xfrm>
          <a:prstGeom prst="rect">
            <a:avLst/>
          </a:prstGeom>
          <a:solidFill>
            <a:srgbClr val="FB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986783"/>
            <a:ext cx="30175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B3B4E"/>
                </a:solidFill>
                <a:latin typeface="Hanken Grotesk"/>
              </a:rPr>
              <a:t>{{ Step 3 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959351"/>
            <a:ext cx="7498079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3A4C6"/>
                </a:solidFill>
                <a:latin typeface="Hanken Grotesk"/>
              </a:rPr>
              <a:t>{{ what happens at this step, and the control that fails }}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864607"/>
            <a:ext cx="11183112" cy="886968"/>
          </a:xfrm>
          <a:prstGeom prst="rect">
            <a:avLst/>
          </a:prstGeom>
          <a:solidFill>
            <a:srgbClr val="0E1730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864607"/>
            <a:ext cx="41148" cy="886968"/>
          </a:xfrm>
          <a:prstGeom prst="rect">
            <a:avLst/>
          </a:prstGeom>
          <a:solidFill>
            <a:srgbClr val="FB6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983479"/>
            <a:ext cx="30175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B3B4E"/>
                </a:solidFill>
                <a:latin typeface="Hanken Grotesk"/>
              </a:rPr>
              <a:t>{{ Step 4 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956047"/>
            <a:ext cx="7498079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3A4C6"/>
                </a:solidFill>
                <a:latin typeface="Hanken Grotesk"/>
              </a:rPr>
              <a:t>{{ what happens at this step, and the control that fails }}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989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93A4C6"/>
                </a:solidFill>
                <a:latin typeface="Hanken Grotesk"/>
              </a:rPr>
              <a:t>{{ Fix: the small, forced-by-construction changes that break the chain }}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RISK PATH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A6BFF"/>
                </a:solidFill>
                <a:latin typeface="JetBrains Mono"/>
              </a:rPr>
              <a:t>EVALATION ENGINE  ·  {{AUDIT TYPE}}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8288"/>
          </a:xfrm>
          <a:prstGeom prst="rect">
            <a:avLst/>
          </a:prstGeom>
          <a:solidFill>
            <a:srgbClr val="2A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alation Logo 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19" y="310896"/>
            <a:ext cx="384112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AF0FB"/>
                </a:solidFill>
                <a:latin typeface="Hanken Grotesk"/>
              </a:rPr>
              <a:t>Convergent themes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93A4C6"/>
                </a:solidFill>
                <a:latin typeface="Hanken Grotesk"/>
              </a:rPr>
              <a:t>TEMPLATE · load-bearing issues each found independently by 2+ lenses/models; list their finding IDs.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1183112" cy="457200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2004" cy="457200"/>
          </a:xfrm>
          <a:prstGeom prst="rect">
            <a:avLst/>
          </a:prstGeom>
          <a:solidFill>
            <a:srgbClr val="FB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828800"/>
            <a:ext cx="5852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AF0FB"/>
                </a:solidFill>
                <a:latin typeface="Hanken Grotesk"/>
              </a:rPr>
              <a:t>{{ Convergent theme 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828800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Hanken Grotesk"/>
              </a:rPr>
              <a:t>{{ FINDING-IDS 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04288"/>
            <a:ext cx="11183112" cy="457200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304288"/>
            <a:ext cx="32004" cy="457200"/>
          </a:xfrm>
          <a:prstGeom prst="rect">
            <a:avLst/>
          </a:prstGeom>
          <a:solidFill>
            <a:srgbClr val="FB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304288"/>
            <a:ext cx="5852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AF0FB"/>
                </a:solidFill>
                <a:latin typeface="Hanken Grotesk"/>
              </a:rPr>
              <a:t>{{ Convergent theme 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0428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Hanken Grotesk"/>
              </a:rPr>
              <a:t>{{ FINDING-IDS 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79776"/>
            <a:ext cx="11183112" cy="457200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779776"/>
            <a:ext cx="32004" cy="457200"/>
          </a:xfrm>
          <a:prstGeom prst="rect">
            <a:avLst/>
          </a:prstGeom>
          <a:solidFill>
            <a:srgbClr val="FB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779776"/>
            <a:ext cx="5852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AF0FB"/>
                </a:solidFill>
                <a:latin typeface="Hanken Grotesk"/>
              </a:rPr>
              <a:t>{{ Convergent theme 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779776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Hanken Grotesk"/>
              </a:rPr>
              <a:t>{{ FINDING-IDS }}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55264"/>
            <a:ext cx="11183112" cy="457200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255264"/>
            <a:ext cx="32004" cy="457200"/>
          </a:xfrm>
          <a:prstGeom prst="rect">
            <a:avLst/>
          </a:prstGeom>
          <a:solidFill>
            <a:srgbClr val="FB6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255264"/>
            <a:ext cx="5852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AF0FB"/>
                </a:solidFill>
                <a:latin typeface="Hanken Grotesk"/>
              </a:rPr>
              <a:t>{{ Convergent theme 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2552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Hanken Grotesk"/>
              </a:rPr>
              <a:t>{{ FINDING-IDS }}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730752"/>
            <a:ext cx="11183112" cy="457200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730752"/>
            <a:ext cx="32004" cy="4572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730752"/>
            <a:ext cx="5852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AF0FB"/>
                </a:solidFill>
                <a:latin typeface="Hanken Grotesk"/>
              </a:rPr>
              <a:t>{{ Convergent theme }}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730752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Hanken Grotesk"/>
              </a:rPr>
              <a:t>{{ FINDING-IDS }}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206240"/>
            <a:ext cx="11183112" cy="457200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206240"/>
            <a:ext cx="32004" cy="457200"/>
          </a:xfrm>
          <a:prstGeom prst="rect">
            <a:avLst/>
          </a:prstGeom>
          <a:solidFill>
            <a:srgbClr val="FB6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4206240"/>
            <a:ext cx="5852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AF0FB"/>
                </a:solidFill>
                <a:latin typeface="Hanken Grotesk"/>
              </a:rPr>
              <a:t>{{ Convergent theme }}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206240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Hanken Grotesk"/>
              </a:rPr>
              <a:t>{{ FINDING-IDS }}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681727"/>
            <a:ext cx="11183112" cy="457200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4681727"/>
            <a:ext cx="32004" cy="4572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4681727"/>
            <a:ext cx="5852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AF0FB"/>
                </a:solidFill>
                <a:latin typeface="Hanken Grotesk"/>
              </a:rPr>
              <a:t>{{ Convergent theme }}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681727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Hanken Grotesk"/>
              </a:rPr>
              <a:t>{{ FINDING-IDS }}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THEMES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A6BFF"/>
                </a:solidFill>
                <a:latin typeface="JetBrains Mono"/>
              </a:rPr>
              <a:t>EVALATION ENGINE  ·  {{AUDIT TYPE}}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8288"/>
          </a:xfrm>
          <a:prstGeom prst="rect">
            <a:avLst/>
          </a:prstGeom>
          <a:solidFill>
            <a:srgbClr val="2A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alation Logo 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19" y="310896"/>
            <a:ext cx="384112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AF0FB"/>
                </a:solidFill>
                <a:latin typeface="Hanken Grotesk"/>
              </a:rPr>
              <a:t>Critical findings ({{n}})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93A4C6"/>
                </a:solidFill>
                <a:latin typeface="Hanken Grotesk"/>
              </a:rPr>
              <a:t>TEMPLATE · one line per Critical finding; full evidence + fix live in the per-category detail files.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1183112" cy="566928"/>
          </a:xfrm>
          <a:prstGeom prst="rect">
            <a:avLst/>
          </a:prstGeom>
          <a:solidFill>
            <a:srgbClr val="0E1730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41148" cy="566928"/>
          </a:xfrm>
          <a:prstGeom prst="rect">
            <a:avLst/>
          </a:prstGeom>
          <a:solidFill>
            <a:srgbClr val="FB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3B4E"/>
                </a:solidFill>
                <a:latin typeface="Hanken Grotesk"/>
              </a:rPr>
              <a:t>{{ID}}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1828800"/>
            <a:ext cx="9144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 critical finding title }}</a:t>
            </a:r>
            <a:r>
              <a:rPr sz="900" b="0" i="0">
                <a:solidFill>
                  <a:srgbClr val="EAF0FB"/>
                </a:solidFill>
                <a:latin typeface="Hanken Grotesk"/>
              </a:rPr>
              <a:t>   </a:t>
            </a:r>
            <a:r>
              <a:rPr sz="900" b="0" i="0">
                <a:solidFill>
                  <a:srgbClr val="EAF0FB"/>
                </a:solidFill>
                <a:latin typeface="Hanken Grotesk"/>
              </a:rPr>
              <a:t>{{ - finder 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50592"/>
            <a:ext cx="11183112" cy="566928"/>
          </a:xfrm>
          <a:prstGeom prst="rect">
            <a:avLst/>
          </a:prstGeom>
          <a:solidFill>
            <a:srgbClr val="0E1730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450592"/>
            <a:ext cx="41148" cy="566928"/>
          </a:xfrm>
          <a:prstGeom prst="rect">
            <a:avLst/>
          </a:prstGeom>
          <a:solidFill>
            <a:srgbClr val="FB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450592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3B4E"/>
                </a:solidFill>
                <a:latin typeface="Hanken Grotesk"/>
              </a:rPr>
              <a:t>{{ID}}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450592"/>
            <a:ext cx="9144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 critical finding title }}</a:t>
            </a:r>
            <a:r>
              <a:rPr sz="900" b="0" i="0">
                <a:solidFill>
                  <a:srgbClr val="EAF0FB"/>
                </a:solidFill>
                <a:latin typeface="Hanken Grotesk"/>
              </a:rPr>
              <a:t>   </a:t>
            </a:r>
            <a:r>
              <a:rPr sz="900" b="0" i="0">
                <a:solidFill>
                  <a:srgbClr val="EAF0FB"/>
                </a:solidFill>
                <a:latin typeface="Hanken Grotesk"/>
              </a:rPr>
              <a:t>{{ - finder 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072384"/>
            <a:ext cx="11183112" cy="566928"/>
          </a:xfrm>
          <a:prstGeom prst="rect">
            <a:avLst/>
          </a:prstGeom>
          <a:solidFill>
            <a:srgbClr val="0E1730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072384"/>
            <a:ext cx="41148" cy="566928"/>
          </a:xfrm>
          <a:prstGeom prst="rect">
            <a:avLst/>
          </a:prstGeom>
          <a:solidFill>
            <a:srgbClr val="FB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072384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3B4E"/>
                </a:solidFill>
                <a:latin typeface="Hanken Grotesk"/>
              </a:rPr>
              <a:t>{{ID}}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3072384"/>
            <a:ext cx="9144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 critical finding title }}</a:t>
            </a:r>
            <a:r>
              <a:rPr sz="900" b="0" i="0">
                <a:solidFill>
                  <a:srgbClr val="EAF0FB"/>
                </a:solidFill>
                <a:latin typeface="Hanken Grotesk"/>
              </a:rPr>
              <a:t>   </a:t>
            </a:r>
            <a:r>
              <a:rPr sz="900" b="0" i="0">
                <a:solidFill>
                  <a:srgbClr val="EAF0FB"/>
                </a:solidFill>
                <a:latin typeface="Hanken Grotesk"/>
              </a:rPr>
              <a:t>{{ - finder }}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694176"/>
            <a:ext cx="11183112" cy="566928"/>
          </a:xfrm>
          <a:prstGeom prst="rect">
            <a:avLst/>
          </a:prstGeom>
          <a:solidFill>
            <a:srgbClr val="0E1730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694176"/>
            <a:ext cx="41148" cy="566928"/>
          </a:xfrm>
          <a:prstGeom prst="rect">
            <a:avLst/>
          </a:prstGeom>
          <a:solidFill>
            <a:srgbClr val="FB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94176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3B4E"/>
                </a:solidFill>
                <a:latin typeface="Hanken Grotesk"/>
              </a:rPr>
              <a:t>{{ID}}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3694176"/>
            <a:ext cx="9144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 critical finding title }}</a:t>
            </a:r>
            <a:r>
              <a:rPr sz="900" b="0" i="0">
                <a:solidFill>
                  <a:srgbClr val="EAF0FB"/>
                </a:solidFill>
                <a:latin typeface="Hanken Grotesk"/>
              </a:rPr>
              <a:t>   </a:t>
            </a:r>
            <a:r>
              <a:rPr sz="900" b="0" i="0">
                <a:solidFill>
                  <a:srgbClr val="EAF0FB"/>
                </a:solidFill>
                <a:latin typeface="Hanken Grotesk"/>
              </a:rPr>
              <a:t>{{ - finder }}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315968"/>
            <a:ext cx="11183112" cy="566928"/>
          </a:xfrm>
          <a:prstGeom prst="rect">
            <a:avLst/>
          </a:prstGeom>
          <a:solidFill>
            <a:srgbClr val="0E1730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315968"/>
            <a:ext cx="41148" cy="566928"/>
          </a:xfrm>
          <a:prstGeom prst="rect">
            <a:avLst/>
          </a:prstGeom>
          <a:solidFill>
            <a:srgbClr val="FB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315968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3B4E"/>
                </a:solidFill>
                <a:latin typeface="Hanken Grotesk"/>
              </a:rPr>
              <a:t>{{ID}}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4315968"/>
            <a:ext cx="9144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EAF0FB"/>
                </a:solidFill>
                <a:latin typeface="Hanken Grotesk"/>
              </a:rPr>
              <a:t>{{ critical finding title }}</a:t>
            </a:r>
            <a:r>
              <a:rPr sz="900" b="0" i="0">
                <a:solidFill>
                  <a:srgbClr val="EAF0FB"/>
                </a:solidFill>
                <a:latin typeface="Hanken Grotesk"/>
              </a:rPr>
              <a:t>   </a:t>
            </a:r>
            <a:r>
              <a:rPr sz="900" b="0" i="0">
                <a:solidFill>
                  <a:srgbClr val="EAF0FB"/>
                </a:solidFill>
                <a:latin typeface="Hanken Grotesk"/>
              </a:rPr>
              <a:t>{{ - finder }}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CRITICALS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A6BFF"/>
                </a:solidFill>
                <a:latin typeface="JetBrains Mono"/>
              </a:rPr>
              <a:t>EVALATION ENGINE  ·  {{AUDIT TYPE}}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8288"/>
          </a:xfrm>
          <a:prstGeom prst="rect">
            <a:avLst/>
          </a:prstGeom>
          <a:solidFill>
            <a:srgbClr val="2A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alation Logo 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19" y="310896"/>
            <a:ext cx="384112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AF0FB"/>
                </a:solidFill>
                <a:latin typeface="Hanken Grotesk"/>
              </a:rPr>
              <a:t>{{ Category }} -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11831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 i="0">
                <a:solidFill>
                  <a:srgbClr val="93A4C6"/>
                </a:solidFill>
                <a:latin typeface="Hanken Grotesk"/>
              </a:rPr>
              <a:t>{{ What it means: a one-line description of what this category covers }}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57984"/>
            <a:ext cx="11183112" cy="274320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57984"/>
            <a:ext cx="27432" cy="274320"/>
          </a:xfrm>
          <a:prstGeom prst="rect">
            <a:avLst/>
          </a:prstGeom>
          <a:solidFill>
            <a:srgbClr val="FB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57984"/>
            <a:ext cx="1417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3B4E"/>
                </a:solidFill>
                <a:latin typeface="Hanken Grotesk"/>
              </a:rPr>
              <a:t>{{ID}}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157984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FB3B4E"/>
                </a:solidFill>
                <a:latin typeface="JetBrains Mono"/>
              </a:rPr>
              <a:t>Critical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2157984"/>
            <a:ext cx="8595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AF0FB"/>
                </a:solidFill>
                <a:latin typeface="Hanken Grotesk"/>
              </a:rPr>
              <a:t>{{ one-line finding title, extended to fill the width of the box 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32303"/>
            <a:ext cx="11183112" cy="274320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432303"/>
            <a:ext cx="27432" cy="274320"/>
          </a:xfrm>
          <a:prstGeom prst="rect">
            <a:avLst/>
          </a:prstGeom>
          <a:solidFill>
            <a:srgbClr val="FB6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432303"/>
            <a:ext cx="1417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3B4E"/>
                </a:solidFill>
                <a:latin typeface="Hanken Grotesk"/>
              </a:rPr>
              <a:t>{{ID}}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432303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FB3B4E"/>
                </a:solidFill>
                <a:latin typeface="JetBrains Mono"/>
              </a:rPr>
              <a:t>High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2432303"/>
            <a:ext cx="8595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AF0FB"/>
                </a:solidFill>
                <a:latin typeface="Hanken Grotesk"/>
              </a:rPr>
              <a:t>{{ one-line finding title, extended to fill the width of the box 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706623"/>
            <a:ext cx="11183112" cy="274320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706623"/>
            <a:ext cx="27432" cy="27432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2706623"/>
            <a:ext cx="1417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6E3B"/>
                </a:solidFill>
                <a:latin typeface="Hanken Grotesk"/>
              </a:rPr>
              <a:t>{{ID}}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2706623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FB6E3B"/>
                </a:solidFill>
                <a:latin typeface="JetBrains Mono"/>
              </a:rPr>
              <a:t>Medium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35808" y="2706623"/>
            <a:ext cx="8595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AF0FB"/>
                </a:solidFill>
                <a:latin typeface="Hanken Grotesk"/>
              </a:rPr>
              <a:t>{{ one-line finding title, extended to fill the width of the box }}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980943"/>
            <a:ext cx="11183112" cy="274320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980943"/>
            <a:ext cx="27432" cy="274320"/>
          </a:xfrm>
          <a:prstGeom prst="rect">
            <a:avLst/>
          </a:prstGeom>
          <a:solidFill>
            <a:srgbClr val="2FD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980943"/>
            <a:ext cx="1417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6E3B"/>
                </a:solidFill>
                <a:latin typeface="Hanken Grotesk"/>
              </a:rPr>
              <a:t>{{ID}}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2980943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FB6E3B"/>
                </a:solidFill>
                <a:latin typeface="JetBrains Mono"/>
              </a:rPr>
              <a:t>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35808" y="2980943"/>
            <a:ext cx="8595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AF0FB"/>
                </a:solidFill>
                <a:latin typeface="Hanken Grotesk"/>
              </a:rPr>
              <a:t>{{ one-line finding title, extended to fill the width of the box }}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255263"/>
            <a:ext cx="11183112" cy="274320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255263"/>
            <a:ext cx="27432" cy="274320"/>
          </a:xfrm>
          <a:prstGeom prst="rect">
            <a:avLst/>
          </a:prstGeom>
          <a:solidFill>
            <a:srgbClr val="3A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255263"/>
            <a:ext cx="1417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6E3B"/>
                </a:solidFill>
                <a:latin typeface="Hanken Grotesk"/>
              </a:rPr>
              <a:t>{{ID}}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255263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FB6E3B"/>
                </a:solidFill>
                <a:latin typeface="JetBrains Mono"/>
              </a:rPr>
              <a:t>Info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35808" y="3255263"/>
            <a:ext cx="8595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AF0FB"/>
                </a:solidFill>
                <a:latin typeface="Hanken Grotesk"/>
              </a:rPr>
              <a:t>{{ one-line finding title, extended to fill the width of the box }}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529583"/>
            <a:ext cx="11183112" cy="274320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3529583"/>
            <a:ext cx="27432" cy="274320"/>
          </a:xfrm>
          <a:prstGeom prst="rect">
            <a:avLst/>
          </a:prstGeom>
          <a:solidFill>
            <a:srgbClr val="FB6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529583"/>
            <a:ext cx="1417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6E3B"/>
                </a:solidFill>
                <a:latin typeface="Hanken Grotesk"/>
              </a:rPr>
              <a:t>{{ID}}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3120" y="3529583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FB6E3B"/>
                </a:solidFill>
                <a:latin typeface="JetBrains Mono"/>
              </a:rPr>
              <a:t>High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35808" y="3529583"/>
            <a:ext cx="8595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AF0FB"/>
                </a:solidFill>
                <a:latin typeface="Hanken Grotesk"/>
              </a:rPr>
              <a:t>{{ one-line finding title, extended to fill the width of the box }}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069080"/>
            <a:ext cx="11183112" cy="457200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4069080"/>
            <a:ext cx="32004" cy="457200"/>
          </a:xfrm>
          <a:prstGeom prst="rect">
            <a:avLst/>
          </a:prstGeom>
          <a:solidFill>
            <a:srgbClr val="3A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4069080"/>
            <a:ext cx="10881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6E3B"/>
                </a:solidFill>
                <a:latin typeface="JetBrains Mono"/>
              </a:rPr>
              <a:t>TEMPLATE  </a:t>
            </a:r>
            <a:r>
              <a:rPr sz="900" b="1" i="0">
                <a:solidFill>
                  <a:srgbClr val="FB6E3B"/>
                </a:solidFill>
                <a:latin typeface="Hanken Grotesk"/>
              </a:rPr>
              <a:t>Repeat this slide per category. Every finding: ID, colour-coded severity, one-line title filling the box. ~15 rows/slide; keep the 'what it means' line.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FINDINGS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A6BFF"/>
                </a:solidFill>
                <a:latin typeface="JetBrains Mono"/>
              </a:rPr>
              <a:t>EVALATION ENGINE  ·  {{AUDIT TYPE}}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8288"/>
          </a:xfrm>
          <a:prstGeom prst="rect">
            <a:avLst/>
          </a:prstGeom>
          <a:solidFill>
            <a:srgbClr val="2A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alation Logo 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19" y="310896"/>
            <a:ext cx="384112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AF0FB"/>
                </a:solidFill>
                <a:latin typeface="Hanken Grotesk"/>
              </a:rPr>
              <a:t>Strengths to preserve  ·  and the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1">
                <a:solidFill>
                  <a:srgbClr val="6B8FFF"/>
                </a:solidFill>
                <a:latin typeface="Hanken Grotesk"/>
              </a:rPr>
              <a:t>TEMPLATE · left: invariants to keep while hardening. Right: prioritised remediation P0-P3.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5486400" cy="4023360"/>
          </a:xfrm>
          <a:prstGeom prst="rect">
            <a:avLst/>
          </a:prstGeom>
          <a:solidFill>
            <a:srgbClr val="0E1730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5486400" cy="91440"/>
          </a:xfrm>
          <a:prstGeom prst="rect">
            <a:avLst/>
          </a:prstGeom>
          <a:solidFill>
            <a:srgbClr val="2FD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FD07A"/>
                </a:solidFill>
                <a:latin typeface="JetBrains Mono"/>
              </a:rPr>
              <a:t>PRESERVE AS INVARIANTS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FD07A"/>
                </a:solidFill>
                <a:latin typeface="Hanken Grotesk"/>
              </a:rPr>
              <a:t>✓  </a:t>
            </a:r>
            <a:r>
              <a:rPr sz="1100" b="1" i="0">
                <a:solidFill>
                  <a:srgbClr val="2FD07A"/>
                </a:solidFill>
                <a:latin typeface="Hanken Grotesk"/>
              </a:rPr>
              <a:t>{{ a genuine strength to keep 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39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FD07A"/>
                </a:solidFill>
                <a:latin typeface="Hanken Grotesk"/>
              </a:rPr>
              <a:t>✓  </a:t>
            </a:r>
            <a:r>
              <a:rPr sz="1100" b="1" i="0">
                <a:solidFill>
                  <a:srgbClr val="2FD07A"/>
                </a:solidFill>
                <a:latin typeface="Hanken Grotesk"/>
              </a:rPr>
              <a:t>{{ a genuine strength to keep 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FD07A"/>
                </a:solidFill>
                <a:latin typeface="Hanken Grotesk"/>
              </a:rPr>
              <a:t>✓  </a:t>
            </a:r>
            <a:r>
              <a:rPr sz="1100" b="1" i="0">
                <a:solidFill>
                  <a:srgbClr val="2FD07A"/>
                </a:solidFill>
                <a:latin typeface="Hanken Grotesk"/>
              </a:rPr>
              <a:t>{{ a genuine strength to keep 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69080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FD07A"/>
                </a:solidFill>
                <a:latin typeface="Hanken Grotesk"/>
              </a:rPr>
              <a:t>✓  </a:t>
            </a:r>
            <a:r>
              <a:rPr sz="1100" b="1" i="0">
                <a:solidFill>
                  <a:srgbClr val="2FD07A"/>
                </a:solidFill>
                <a:latin typeface="Hanken Grotesk"/>
              </a:rPr>
              <a:t>{{ a genuine strength to keep 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72000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FD07A"/>
                </a:solidFill>
                <a:latin typeface="Hanken Grotesk"/>
              </a:rPr>
              <a:t>✓  </a:t>
            </a:r>
            <a:r>
              <a:rPr sz="1100" b="1" i="0">
                <a:solidFill>
                  <a:srgbClr val="2FD07A"/>
                </a:solidFill>
                <a:latin typeface="Hanken Grotesk"/>
              </a:rPr>
              <a:t>{{ a genuine strength to keep 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FD07A"/>
                </a:solidFill>
                <a:latin typeface="Hanken Grotesk"/>
              </a:rPr>
              <a:t>✓  </a:t>
            </a:r>
            <a:r>
              <a:rPr sz="1100" b="1" i="0">
                <a:solidFill>
                  <a:srgbClr val="2FD07A"/>
                </a:solidFill>
                <a:latin typeface="Hanken Grotesk"/>
              </a:rPr>
              <a:t>{{ a genuine strength to keep }}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1828800"/>
            <a:ext cx="5486400" cy="4023360"/>
          </a:xfrm>
          <a:prstGeom prst="rect">
            <a:avLst/>
          </a:prstGeom>
          <a:solidFill>
            <a:srgbClr val="0E1730"/>
          </a:solidFill>
          <a:ln w="9525">
            <a:solidFill>
              <a:srgbClr val="2A38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828800"/>
            <a:ext cx="5486400" cy="91440"/>
          </a:xfrm>
          <a:prstGeom prst="rect">
            <a:avLst/>
          </a:prstGeom>
          <a:solidFill>
            <a:srgbClr val="3A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0574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A6BFF"/>
                </a:solidFill>
                <a:latin typeface="JetBrains Mono"/>
              </a:rPr>
              <a:t>REMEDIATION ROADMAP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28232" y="2606040"/>
            <a:ext cx="566928" cy="365760"/>
          </a:xfrm>
          <a:prstGeom prst="rect">
            <a:avLst/>
          </a:prstGeom>
          <a:solidFill>
            <a:srgbClr val="FB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2606040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70C18"/>
                </a:solidFill>
                <a:latin typeface="JetBrains Mono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2" y="2606040"/>
            <a:ext cx="44348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Hanken Grotesk"/>
              </a:rPr>
              <a:t>{{ the items in this priority tier }}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28232" y="3392424"/>
            <a:ext cx="566928" cy="365760"/>
          </a:xfrm>
          <a:prstGeom prst="rect">
            <a:avLst/>
          </a:prstGeom>
          <a:solidFill>
            <a:srgbClr val="FB6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3392424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70C18"/>
                </a:solidFill>
                <a:latin typeface="JetBrains Mono"/>
              </a:rPr>
              <a:t>P1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392424"/>
            <a:ext cx="44348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Hanken Grotesk"/>
              </a:rPr>
              <a:t>{{ the items in this priority tier }}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8232" y="4178808"/>
            <a:ext cx="566928" cy="36576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2" y="4178808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70C18"/>
                </a:solidFill>
                <a:latin typeface="JetBrains Mono"/>
              </a:rPr>
              <a:t>P2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2" y="4178808"/>
            <a:ext cx="44348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Hanken Grotesk"/>
              </a:rPr>
              <a:t>{{ the items in this priority tier }}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28232" y="4965192"/>
            <a:ext cx="566928" cy="365760"/>
          </a:xfrm>
          <a:prstGeom prst="rect">
            <a:avLst/>
          </a:prstGeom>
          <a:solidFill>
            <a:srgbClr val="2FD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8232" y="4965192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70C18"/>
                </a:solidFill>
                <a:latin typeface="JetBrains Mono"/>
              </a:rPr>
              <a:t>P3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4032" y="4965192"/>
            <a:ext cx="44348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3A4C6"/>
                </a:solidFill>
                <a:latin typeface="Hanken Grotesk"/>
              </a:rPr>
              <a:t>{{ the items in this priority tier }}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ROADMAP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JetBrains Mono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0A1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A6BFF"/>
                </a:solidFill>
                <a:latin typeface="JetBrains Mono"/>
              </a:rPr>
              <a:t>EVALATION ENGINE  ·  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13232"/>
            <a:ext cx="11183112" cy="18288"/>
          </a:xfrm>
          <a:prstGeom prst="rect">
            <a:avLst/>
          </a:prstGeom>
          <a:solidFill>
            <a:srgbClr val="2A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valation Logo 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19" y="310896"/>
            <a:ext cx="384112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84124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EAF0FB"/>
                </a:solidFill>
                <a:latin typeface="Hanken Grotesk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11183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 i="0">
                <a:solidFill>
                  <a:srgbClr val="93A4C6"/>
                </a:solidFill>
                <a:latin typeface="Hanken Grotesk"/>
              </a:rPr>
              <a:t>{{ Lead: what the system is, and the one-line overall finding. Written for a diligence reader, honest, not pitched. 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450592"/>
            <a:ext cx="32004" cy="1783080"/>
          </a:xfrm>
          <a:prstGeom prst="rect">
            <a:avLst/>
          </a:prstGeom>
          <a:solidFill>
            <a:srgbClr val="2FD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432304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FD07A"/>
                </a:solidFill>
                <a:latin typeface="JetBrains Mono"/>
              </a:rPr>
              <a:t>HOW WELL IT IS BUILT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779776"/>
            <a:ext cx="523036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 i="0">
                <a:solidFill>
                  <a:srgbClr val="93A4C6"/>
                </a:solidFill>
                <a:latin typeface="Hanken Grotesk"/>
              </a:rPr>
              <a:t>{{ 3-4 sentences for this section: honest, specific, balanced. 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2450592"/>
            <a:ext cx="32004" cy="1783080"/>
          </a:xfrm>
          <a:prstGeom prst="rect">
            <a:avLst/>
          </a:prstGeom>
          <a:solidFill>
            <a:srgbClr val="FB6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2432304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6E3B"/>
                </a:solidFill>
                <a:latin typeface="JetBrains Mono"/>
              </a:rPr>
              <a:t>WHERE THE RISK 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779776"/>
            <a:ext cx="523036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 i="0">
                <a:solidFill>
                  <a:srgbClr val="93A4C6"/>
                </a:solidFill>
                <a:latin typeface="Hanken Grotesk"/>
              </a:rPr>
              <a:t>{{ 3-4 sentences for this section: honest, specific, balanced. }}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443984"/>
            <a:ext cx="32004" cy="1783080"/>
          </a:xfrm>
          <a:prstGeom prst="rect">
            <a:avLst/>
          </a:prstGeom>
          <a:solidFill>
            <a:srgbClr val="3A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42569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A6BFF"/>
                </a:solidFill>
                <a:latin typeface="JetBrains Mono"/>
              </a:rPr>
              <a:t>WHAT IT TAKES TO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73168"/>
            <a:ext cx="523036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 i="0">
                <a:solidFill>
                  <a:srgbClr val="93A4C6"/>
                </a:solidFill>
                <a:latin typeface="Hanken Grotesk"/>
              </a:rPr>
              <a:t>{{ 3-4 sentences for this section: honest, specific, balanced. 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4443984"/>
            <a:ext cx="32004" cy="1783080"/>
          </a:xfrm>
          <a:prstGeom prst="rect">
            <a:avLst/>
          </a:prstGeom>
          <a:solidFill>
            <a:srgbClr val="6B8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442569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8FFF"/>
                </a:solidFill>
                <a:latin typeface="JetBrains Mono"/>
              </a:rPr>
              <a:t>THE BOTTOM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4773168"/>
            <a:ext cx="523036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 i="0">
                <a:solidFill>
                  <a:srgbClr val="93A4C6"/>
                </a:solidFill>
                <a:latin typeface="Hanken Grotesk"/>
              </a:rPr>
              <a:t>{{ 3-4 sentences for this section: honest, specific, balanced. 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F82AB"/>
                </a:solidFill>
                <a:latin typeface="Hanken Grotesk"/>
              </a:rPr>
              <a:t>{{ N findings · N critical · N high · N lenses · read-only · hardness NN/100 · detail in the report + findings files 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